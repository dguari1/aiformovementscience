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75" r:id="rId2"/>
    <p:sldId id="258" r:id="rId3"/>
    <p:sldId id="276" r:id="rId4"/>
    <p:sldId id="259" r:id="rId5"/>
    <p:sldId id="266" r:id="rId6"/>
    <p:sldId id="267" r:id="rId7"/>
    <p:sldId id="268" r:id="rId8"/>
    <p:sldId id="270" r:id="rId9"/>
    <p:sldId id="260" r:id="rId10"/>
    <p:sldId id="261" r:id="rId11"/>
    <p:sldId id="263" r:id="rId12"/>
    <p:sldId id="264" r:id="rId13"/>
    <p:sldId id="265" r:id="rId14"/>
    <p:sldId id="272" r:id="rId15"/>
    <p:sldId id="273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975"/>
    <p:restoredTop sz="94670"/>
  </p:normalViewPr>
  <p:slideViewPr>
    <p:cSldViewPr snapToGrid="0">
      <p:cViewPr varScale="1">
        <p:scale>
          <a:sx n="165" d="100"/>
          <a:sy n="165" d="100"/>
        </p:scale>
        <p:origin x="224" y="6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BBF393-FF43-D64B-BDE4-F95D1845587A}" type="datetimeFigureOut">
              <a:rPr lang="en-US" smtClean="0"/>
              <a:t>9/30/26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00A8EB-D570-0148-990C-09AE14B2BF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83187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CA2136-0894-C8EA-C247-5ABA002352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8C97905-150F-F874-8060-891F3C8BF2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ED29F3-8D38-64E0-ACE3-3415E2E912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9A9F0F-1D22-00A5-BFCB-91473C30C5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00A8EB-D570-0148-990C-09AE14B2BF1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33567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F4E474-E966-7459-92B8-47DD864F3D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738B725-57FB-41AE-8FC9-20ACB708E9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0C8954-C50F-D4EB-5B2E-93EEFF772E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654A37-41CF-5477-E74B-5F14EAF789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00A8EB-D570-0148-990C-09AE14B2BF1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29392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B6BDD4-DD1B-8982-3314-FFEC0C5546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948CBE-715B-BAB6-4025-330366AF8F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0C845A-412E-9ECE-D489-8E9947D94C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E174F3-6627-6BA4-DADD-A51B431E77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00A8EB-D570-0148-990C-09AE14B2BF1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36779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F5FD6A-D7BE-E966-3348-439E974FB2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F772D0-E137-FC52-58C5-2B73367FF1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1D03FF-603D-2713-8FA1-6AF76C501C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265A1D-4C60-DC06-CBA2-5F4A4208E5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00A8EB-D570-0148-990C-09AE14B2BF1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660501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00A8EB-D570-0148-990C-09AE14B2BF1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706948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6E048B-BF69-DB8B-81C3-45F7544EC2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FA1894A-C351-F99C-1A5F-D3E1F154A9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CC81F1-A82C-5A49-2641-66FF616BCC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B0C8D0-63B8-6D7A-C2F0-560EDCE495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00A8EB-D570-0148-990C-09AE14B2BF1B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198094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A1C372-3C60-F171-2BE0-6951482818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9D2B22B-BE47-D713-0D1F-7360E72FB0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408D72C-E4BB-4013-FBFB-B5F44D8195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FECB3C-EAAE-F0E7-AD22-FCAE5BF12B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00A8EB-D570-0148-990C-09AE14B2BF1B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551293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394A54-92ED-7515-277C-964284F338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7BA8FA7-0D6C-C2DC-DDCC-BD3A7EDBC1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2558538-AB8E-F705-637A-571FDAC95B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C14A73-0C2D-DC48-60E0-3066A44048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00A8EB-D570-0148-990C-09AE14B2BF1B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14822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FA5A75-4752-E7A0-5263-FA214ACE0F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EB84AD9-7FA7-4B83-4E76-E87352F768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94789E-8284-8360-CACB-BE513D8A96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0F163E-63C2-F374-11C1-19B0D3A2BB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00A8EB-D570-0148-990C-09AE14B2BF1B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838063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3B4C72-1068-5DB1-6942-A19D988D0A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6A3DEEA-575C-85ED-B768-0CDC2BAAC4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1CD729-6178-2BDA-C730-02561B0AAF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38D271-839C-428E-4604-52A9F1AB20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00A8EB-D570-0148-990C-09AE14B2BF1B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39428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9231A6-6084-584F-291B-D122E3DD6E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6F21837-2D85-04FE-8CD6-0AB6DE6BDA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8BE9FC-A2E5-889F-E6F7-BDFE26DEC9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E367A-FB30-8045-9E97-AC53B9EF1DC1}" type="datetimeFigureOut">
              <a:rPr lang="en-US" smtClean="0"/>
              <a:t>9/30/26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6DEE7F-F2C0-C9E8-2B5A-7E9B28C1D9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EF81CD-64E0-277C-5518-0726FD87A4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2B5CF0-F271-714A-ADD2-170A67116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6478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EA98A-63DB-D999-8184-EF38F45C5A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F9424E-E62D-588F-A348-BD9DAD7D60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017F76-34CF-4833-14D0-36D2FD461C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E367A-FB30-8045-9E97-AC53B9EF1DC1}" type="datetimeFigureOut">
              <a:rPr lang="en-US" smtClean="0"/>
              <a:t>9/30/26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0F65C9-8DA2-A79C-A001-39E7341FCA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82DE86-D381-05D9-736E-9E1CA0A14A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2B5CF0-F271-714A-ADD2-170A67116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91943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E863DB-3812-89B0-13B9-781B5CA841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BE7137-8544-A155-26AC-5D9E2009FA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C17F2-A542-16C8-DD21-3B807000B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E367A-FB30-8045-9E97-AC53B9EF1DC1}" type="datetimeFigureOut">
              <a:rPr lang="en-US" smtClean="0"/>
              <a:t>9/30/26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A8FD31-7EFF-FE37-A27E-130348DBC9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D85921-2DD3-D420-953E-542FD95A32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2B5CF0-F271-714A-ADD2-170A67116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03492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5C3C52-CA13-06FF-89EF-CC9AA93357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B4D8E9-C2B9-7D52-2BAB-6F854FF6D36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19CAF8-DDA6-09B0-0CC9-A58530C35C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0B6C72-6807-99D0-BF10-3BDADEBC58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E367A-FB30-8045-9E97-AC53B9EF1DC1}" type="datetimeFigureOut">
              <a:rPr lang="en-US" smtClean="0"/>
              <a:t>9/30/26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3A8F11-8319-449B-0AFF-4C6C474087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DC21F4-EBC6-DAD4-F134-C899EDAB88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2B5CF0-F271-714A-ADD2-170A67116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74333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87F061-F297-673F-6C07-25D6362C1F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2C3A32-91B6-A222-1B2D-A9195B0882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1205439-A9C2-6E0A-8645-0AC121DCFE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388D09-8004-1C8E-C5C0-5FF34BB11F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BAD594-9CFD-3DD0-3609-34A04223EAC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B1E4313-0D07-E324-EDD0-DBEEF94338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E367A-FB30-8045-9E97-AC53B9EF1DC1}" type="datetimeFigureOut">
              <a:rPr lang="en-US" smtClean="0"/>
              <a:t>9/30/26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0C83524-B10A-75CC-3DD4-2E740E7475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B314F00-597C-4F9E-27C3-7DF2D6FFF4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2B5CF0-F271-714A-ADD2-170A67116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93857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0C3F35-2B88-BD5D-2CFC-E71E839872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0FB11BE-A1CA-36DE-82EB-E62D37EE09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E367A-FB30-8045-9E97-AC53B9EF1DC1}" type="datetimeFigureOut">
              <a:rPr lang="en-US" smtClean="0"/>
              <a:t>9/30/26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63E699E-C893-7B23-70FB-ABA874CF0F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9820DF3-C92A-AC93-5DD7-84C191CBC5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2B5CF0-F271-714A-ADD2-170A67116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86319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D5630F7-A9EA-8FC8-1378-6E1ECACA3B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E367A-FB30-8045-9E97-AC53B9EF1DC1}" type="datetimeFigureOut">
              <a:rPr lang="en-US" smtClean="0"/>
              <a:t>9/30/26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20E9122-E64E-0BE4-1740-C253D93E1B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9F9726-03F4-8BAA-50EE-7E34BF4B3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2B5CF0-F271-714A-ADD2-170A67116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77385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12E4DC-42D2-676F-EEBF-CD5BC8275E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D6C3FF-835D-6AA5-5BB5-6EEECBE4BD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09C455-458C-F6FE-D6C1-EAA438E07C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55872E-8BA3-185B-B03C-5EBB8CF9EC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E367A-FB30-8045-9E97-AC53B9EF1DC1}" type="datetimeFigureOut">
              <a:rPr lang="en-US" smtClean="0"/>
              <a:t>9/30/26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827546-9874-B1B9-801D-8101514D45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02BD6C-C178-C01D-FF58-F92B1D8505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2B5CF0-F271-714A-ADD2-170A67116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89812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9C8166-CBAA-FD15-8B07-6BB9299EF7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8259725-557D-B177-241C-9DA03AFE68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51CB47-6303-6BB6-64E6-969A141FB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8286F1-1259-7FE8-0321-83A4BA5BC1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E367A-FB30-8045-9E97-AC53B9EF1DC1}" type="datetimeFigureOut">
              <a:rPr lang="en-US" smtClean="0"/>
              <a:t>9/30/26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2FF6FA-788C-41F0-41AC-EDD337B2E7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77D19F-1917-57E9-C663-4B589B6DD6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2B5CF0-F271-714A-ADD2-170A67116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5948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B38050-606F-FB20-16E6-DED375B1A6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98CCF5C-306F-CD0F-DA42-8A59106D7E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564AE1-63F3-9040-E7DD-853D763BAF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E367A-FB30-8045-9E97-AC53B9EF1DC1}" type="datetimeFigureOut">
              <a:rPr lang="en-US" smtClean="0"/>
              <a:t>9/30/26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0D995C-8F5F-7825-4D1F-D0C6025F5E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524F16-0B0F-C8B0-F80D-39AA8680B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2B5CF0-F271-714A-ADD2-170A67116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37480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A3DE24E-EF50-1904-A5CA-E4C881A8FEE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EAD53D7-490A-F954-9DD9-93EEECB146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3C98DD-7BED-21B8-516E-E397D1B0AC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E367A-FB30-8045-9E97-AC53B9EF1DC1}" type="datetimeFigureOut">
              <a:rPr lang="en-US" smtClean="0"/>
              <a:t>9/30/26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155F03-80BF-9BC8-3210-3832A84A66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FC01AA-DF31-8B2A-E31A-F2BDCF3817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2B5CF0-F271-714A-ADD2-170A67116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40594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9B8CE83-C49B-CC1A-23E6-D04DB19D5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8A0ACB-DAF4-BF69-EBC8-47C9B4F5A4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8DE2B6-A029-F62A-9944-D0C6413C9F3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2AE367A-FB30-8045-9E97-AC53B9EF1DC1}" type="datetimeFigureOut">
              <a:rPr lang="en-US" smtClean="0"/>
              <a:t>9/30/26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F546F4-18FB-4456-40C1-7574F630C7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3778FD-0F23-6055-3356-CBFB8EFDFD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A2B5CF0-F271-714A-ADD2-170A67116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27345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D74C35-48BB-223B-B13E-5D12E1A6C5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91086" y="2490244"/>
            <a:ext cx="10701195" cy="1877511"/>
          </a:xfrm>
        </p:spPr>
        <p:txBody>
          <a:bodyPr>
            <a:normAutofit fontScale="90000"/>
          </a:bodyPr>
          <a:lstStyle/>
          <a:p>
            <a:br>
              <a:rPr lang="en-US" dirty="0">
                <a:effectLst/>
                <a:latin typeface="Calibri" panose="020F0502020204030204" pitchFamily="34" charset="0"/>
              </a:rPr>
            </a:br>
            <a:r>
              <a:rPr lang="en-US" u="sng" dirty="0">
                <a:effectLst/>
                <a:latin typeface="Calibri" panose="020F0502020204030204" pitchFamily="34" charset="0"/>
              </a:rPr>
              <a:t>APK 6725</a:t>
            </a:r>
            <a:br>
              <a:rPr lang="en-US" dirty="0">
                <a:effectLst/>
                <a:latin typeface="Calibri" panose="020F0502020204030204" pitchFamily="34" charset="0"/>
              </a:rPr>
            </a:br>
            <a:r>
              <a:rPr lang="en-US" dirty="0">
                <a:effectLst/>
                <a:latin typeface="Calibri" panose="020F0502020204030204" pitchFamily="34" charset="0"/>
              </a:rPr>
              <a:t>AI for Sports and  Movement Sciences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6BD58E-7C44-C62F-7C44-F73719BC73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1995" y="4738558"/>
            <a:ext cx="8779376" cy="1351722"/>
          </a:xfrm>
        </p:spPr>
        <p:txBody>
          <a:bodyPr>
            <a:normAutofit/>
          </a:bodyPr>
          <a:lstStyle/>
          <a:p>
            <a:r>
              <a:rPr lang="en-US" dirty="0"/>
              <a:t>Introduction to Machine Learning</a:t>
            </a:r>
          </a:p>
        </p:txBody>
      </p:sp>
      <p:pic>
        <p:nvPicPr>
          <p:cNvPr id="1026" name="Picture 2" descr="University of Florida Logo, symbol, meaning, history, PNG, brand">
            <a:extLst>
              <a:ext uri="{FF2B5EF4-FFF2-40B4-BE49-F238E27FC236}">
                <a16:creationId xmlns:a16="http://schemas.microsoft.com/office/drawing/2014/main" id="{58EAAEF0-DF6C-3FB1-9CE6-FAB6B4AF680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319" b="32609"/>
          <a:stretch/>
        </p:blipFill>
        <p:spPr bwMode="auto">
          <a:xfrm>
            <a:off x="1" y="5824826"/>
            <a:ext cx="5237018" cy="10331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riangle 6">
            <a:extLst>
              <a:ext uri="{FF2B5EF4-FFF2-40B4-BE49-F238E27FC236}">
                <a16:creationId xmlns:a16="http://schemas.microsoft.com/office/drawing/2014/main" id="{9F3E4CAE-D638-74D6-99C8-B124D9161783}"/>
              </a:ext>
            </a:extLst>
          </p:cNvPr>
          <p:cNvSpPr/>
          <p:nvPr/>
        </p:nvSpPr>
        <p:spPr>
          <a:xfrm rot="-2700000">
            <a:off x="9825790" y="4485310"/>
            <a:ext cx="2743200" cy="2743200"/>
          </a:xfrm>
          <a:prstGeom prst="triangle">
            <a:avLst/>
          </a:prstGeom>
          <a:solidFill>
            <a:schemeClr val="bg2">
              <a:alpha val="5969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28" name="Picture 4" descr="BeneScholar™ Tuition Discounts">
            <a:extLst>
              <a:ext uri="{FF2B5EF4-FFF2-40B4-BE49-F238E27FC236}">
                <a16:creationId xmlns:a16="http://schemas.microsoft.com/office/drawing/2014/main" id="{C3FF1229-1165-87C8-E022-95D94B7F16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-1363"/>
            <a:ext cx="7620000" cy="1054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2DCF2DAD-8CAD-D82C-9823-A41E5C8DD594}"/>
              </a:ext>
            </a:extLst>
          </p:cNvPr>
          <p:cNvSpPr/>
          <p:nvPr/>
        </p:nvSpPr>
        <p:spPr>
          <a:xfrm>
            <a:off x="994612" y="1227221"/>
            <a:ext cx="10202778" cy="4508416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19461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187819-622A-96AE-20C3-721AE9FC14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to Machine 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5DB814-7616-612E-5E64-B3870AA977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72240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Machine learning techniques allow us to build mathematical models to help us understand and explain observed measures (data). </a:t>
            </a:r>
          </a:p>
          <a:p>
            <a:pPr marL="0" indent="0">
              <a:buNone/>
            </a:pPr>
            <a:r>
              <a:rPr lang="en-US" dirty="0"/>
              <a:t>These models have tunable parameters (often called weights and biases) which are adjusted (or learn) to minimize a “loss function” during the training process using data. This process allows us to </a:t>
            </a:r>
            <a:r>
              <a:rPr lang="en-US" b="1" dirty="0"/>
              <a:t>learn </a:t>
            </a:r>
            <a:r>
              <a:rPr lang="en-US" dirty="0"/>
              <a:t>from the data.</a:t>
            </a:r>
          </a:p>
          <a:p>
            <a:pPr marL="0" indent="0">
              <a:buNone/>
            </a:pPr>
            <a:r>
              <a:rPr lang="en-US" dirty="0"/>
              <a:t>Once these models have been fit to previously seen data, they can be used to predict and understand aspects of newly observed data.</a:t>
            </a:r>
          </a:p>
        </p:txBody>
      </p:sp>
    </p:spTree>
    <p:extLst>
      <p:ext uri="{BB962C8B-B14F-4D97-AF65-F5344CB8AC3E}">
        <p14:creationId xmlns:p14="http://schemas.microsoft.com/office/powerpoint/2010/main" val="21103213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84ED09-6755-FAF3-5E95-385D367311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241E42-C0F0-2F83-3C18-7B2D078BD2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to Machine 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541D5B-8211-ACA4-F005-5C5D058B49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1126492" cy="472240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In my view, there are two main type of machine learning user:</a:t>
            </a:r>
            <a:br>
              <a:rPr lang="en-US" dirty="0"/>
            </a:br>
            <a:endParaRPr lang="en-US" dirty="0"/>
          </a:p>
          <a:p>
            <a:pPr>
              <a:buFontTx/>
              <a:buChar char="-"/>
            </a:pPr>
            <a:r>
              <a:rPr lang="en-US" dirty="0"/>
              <a:t>The Developers (The Architects) – Those who create new mathematical models to describe the observed data, and new training techniques to learn from the data </a:t>
            </a:r>
          </a:p>
          <a:p>
            <a:pPr>
              <a:buFontTx/>
              <a:buChar char="-"/>
            </a:pPr>
            <a:r>
              <a:rPr lang="en-US" dirty="0"/>
              <a:t>Users - Those who use existing techniques and apply them to their own data </a:t>
            </a:r>
          </a:p>
          <a:p>
            <a:pPr marL="457200" lvl="1" indent="0">
              <a:buNone/>
            </a:pPr>
            <a:r>
              <a:rPr lang="en-US" dirty="0"/>
              <a:t>-Informed Users – Those who understand the core concepts of machine learning, can adapt the tools to fit their needs, and understand their limitations. </a:t>
            </a:r>
          </a:p>
          <a:p>
            <a:pPr marL="457200" lvl="1" indent="0">
              <a:buNone/>
            </a:pPr>
            <a:r>
              <a:rPr lang="en-US" dirty="0"/>
              <a:t>-The Black-Box Operators – Those who use the tools without any understanding and just hope for the best results. </a:t>
            </a:r>
          </a:p>
        </p:txBody>
      </p:sp>
    </p:spTree>
    <p:extLst>
      <p:ext uri="{BB962C8B-B14F-4D97-AF65-F5344CB8AC3E}">
        <p14:creationId xmlns:p14="http://schemas.microsoft.com/office/powerpoint/2010/main" val="15374903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41357A-77B8-681E-9BAC-07E7B660D6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to Machine 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DE559D-2B99-3545-0DC2-B66B4EDDA9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Machine learning can be categorized in different ways. At the most fundamental level, it can be classified based of the type of data under analysis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- </a:t>
            </a:r>
            <a:r>
              <a:rPr lang="en-US" i="1" u="sng" dirty="0"/>
              <a:t>Supervised Learning </a:t>
            </a:r>
            <a:r>
              <a:rPr lang="en-US" dirty="0"/>
              <a:t>involves modeling the relationship between measured features of data and some label associated with the data. Supervised Learning is further subdivided into classification tasks and regression tasks: in classification, the labels are discrete categories, while in regression, the labels are typically continuous numbers.</a:t>
            </a:r>
          </a:p>
          <a:p>
            <a:pPr marL="0" indent="0">
              <a:buNone/>
            </a:pPr>
            <a:r>
              <a:rPr lang="en-US" dirty="0"/>
              <a:t>- </a:t>
            </a:r>
            <a:r>
              <a:rPr lang="en-US" i="1" u="sng" dirty="0"/>
              <a:t>Unsupervised Learning</a:t>
            </a:r>
            <a:r>
              <a:rPr lang="en-US" dirty="0"/>
              <a:t> involves modeling the features of a dataset without reference to any label. Unsupervised Learning is further subdivided into tasks such as clustering and dimensionality reduction.</a:t>
            </a:r>
          </a:p>
        </p:txBody>
      </p:sp>
    </p:spTree>
    <p:extLst>
      <p:ext uri="{BB962C8B-B14F-4D97-AF65-F5344CB8AC3E}">
        <p14:creationId xmlns:p14="http://schemas.microsoft.com/office/powerpoint/2010/main" val="32151680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13372F-F4C4-21F1-67A7-97D3BB2F74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B61746-106E-33E6-71C3-C9EB7D7146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to Machine 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EE0B07-1F8D-3D93-B0C2-7641A39139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687065" cy="435133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Regression</a:t>
            </a:r>
            <a:r>
              <a:rPr lang="en-US" dirty="0"/>
              <a:t> – Predicting continuous labels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In a regression problem, there are typically one or multiple features (called independent variable(s)) and each feature set is associated with an output (or dependent variable).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In this example, we have one independent variable (plotted in the x-axis) and one dependent variable (plotted in the x-axis) 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 descr="Example of regression problem">
            <a:extLst>
              <a:ext uri="{FF2B5EF4-FFF2-40B4-BE49-F238E27FC236}">
                <a16:creationId xmlns:a16="http://schemas.microsoft.com/office/drawing/2014/main" id="{499CF652-9ABB-42C1-8011-99EADA4E87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5265" y="2298073"/>
            <a:ext cx="4836926" cy="340644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26D8388-5D5C-42C6-8C5A-82DD400320C0}"/>
              </a:ext>
            </a:extLst>
          </p:cNvPr>
          <p:cNvSpPr txBox="1"/>
          <p:nvPr/>
        </p:nvSpPr>
        <p:spPr>
          <a:xfrm>
            <a:off x="8773760" y="5807078"/>
            <a:ext cx="25771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Independent variable (x)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8553B01-5E92-D315-D700-306F97791041}"/>
              </a:ext>
            </a:extLst>
          </p:cNvPr>
          <p:cNvSpPr txBox="1"/>
          <p:nvPr/>
        </p:nvSpPr>
        <p:spPr>
          <a:xfrm rot="16200000">
            <a:off x="6205880" y="3816628"/>
            <a:ext cx="24216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Dependent variable (y)</a:t>
            </a:r>
          </a:p>
        </p:txBody>
      </p:sp>
    </p:spTree>
    <p:extLst>
      <p:ext uri="{BB962C8B-B14F-4D97-AF65-F5344CB8AC3E}">
        <p14:creationId xmlns:p14="http://schemas.microsoft.com/office/powerpoint/2010/main" val="26302713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F476DB-7444-D4C6-82BD-1C7BFF197C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8B8128-7CEC-623A-B16C-DB85DB2EBE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to Machine Learning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89BF011-619D-80F6-7EF5-D844F71F046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6696367" cy="435133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b="1" dirty="0"/>
                  <a:t>Regression</a:t>
                </a:r>
                <a:r>
                  <a:rPr lang="en-US" dirty="0"/>
                  <a:t> – Predicting continuous labels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In this example, the dependent (y) and independent (x) variables are related</a:t>
                </a:r>
              </a:p>
              <a:p>
                <a:pPr marL="0" indent="0">
                  <a:buNone/>
                </a:pPr>
                <a:r>
                  <a:rPr lang="en-US" dirty="0"/>
                  <a:t>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𝜖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Where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are the model weights,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US" dirty="0"/>
                  <a:t> is an error term.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89BF011-619D-80F6-7EF5-D844F71F046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6696367" cy="4351338"/>
              </a:xfrm>
              <a:blipFill>
                <a:blip r:embed="rId3"/>
                <a:stretch>
                  <a:fillRect l="-1894" t="-2326" r="-1326" b="-2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 descr="Example of regression problem">
            <a:extLst>
              <a:ext uri="{FF2B5EF4-FFF2-40B4-BE49-F238E27FC236}">
                <a16:creationId xmlns:a16="http://schemas.microsoft.com/office/drawing/2014/main" id="{C547B40E-CC58-1A53-2E88-DE389E3DA9B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534567" y="2298073"/>
            <a:ext cx="4818322" cy="340644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37E7666-95CA-766B-B6C8-D00DCA14C435}"/>
              </a:ext>
            </a:extLst>
          </p:cNvPr>
          <p:cNvSpPr txBox="1"/>
          <p:nvPr/>
        </p:nvSpPr>
        <p:spPr>
          <a:xfrm>
            <a:off x="8773760" y="5807078"/>
            <a:ext cx="25771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Independent variable (x)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04C95F0-B21A-EE97-0C41-AC00D99DFD55}"/>
              </a:ext>
            </a:extLst>
          </p:cNvPr>
          <p:cNvSpPr txBox="1"/>
          <p:nvPr/>
        </p:nvSpPr>
        <p:spPr>
          <a:xfrm rot="16200000">
            <a:off x="6323723" y="3816627"/>
            <a:ext cx="24216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Dependent variable (y)</a:t>
            </a:r>
          </a:p>
        </p:txBody>
      </p:sp>
    </p:spTree>
    <p:extLst>
      <p:ext uri="{BB962C8B-B14F-4D97-AF65-F5344CB8AC3E}">
        <p14:creationId xmlns:p14="http://schemas.microsoft.com/office/powerpoint/2010/main" val="14460448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73FE37-0BD9-AAEF-33B8-FBE9F33B69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84EFCE-6405-5765-3F33-BCE3B608B6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to Machine Learning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B873367-C58C-6528-B98E-B1F6C867EB2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6696367" cy="435133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b="1" dirty="0"/>
                  <a:t>Regression</a:t>
                </a:r>
                <a:r>
                  <a:rPr lang="en-US" dirty="0"/>
                  <a:t> – Predicting continuous labels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The objective of the regression problem is to</a:t>
                </a:r>
                <a:r>
                  <a:rPr lang="en-US" b="1" dirty="0"/>
                  <a:t> learn </a:t>
                </a:r>
                <a:r>
                  <a:rPr lang="en-US" dirty="0"/>
                  <a:t>the weights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and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) that minimize the differences between the measured data and the model’s predictions. 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B873367-C58C-6528-B98E-B1F6C867EB2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6696367" cy="4351338"/>
              </a:xfrm>
              <a:blipFill>
                <a:blip r:embed="rId3"/>
                <a:stretch>
                  <a:fillRect l="-1894" t="-2326" r="-1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 descr="Example of regression problem">
            <a:extLst>
              <a:ext uri="{FF2B5EF4-FFF2-40B4-BE49-F238E27FC236}">
                <a16:creationId xmlns:a16="http://schemas.microsoft.com/office/drawing/2014/main" id="{5A0232C4-0E32-CB58-85F7-72C60EEC97D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534567" y="2298073"/>
            <a:ext cx="4818322" cy="340644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6F3F4F5-6ABC-3991-FDE6-40B49718BCD9}"/>
              </a:ext>
            </a:extLst>
          </p:cNvPr>
          <p:cNvSpPr txBox="1"/>
          <p:nvPr/>
        </p:nvSpPr>
        <p:spPr>
          <a:xfrm>
            <a:off x="8773760" y="5807078"/>
            <a:ext cx="25771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Independent variable (x)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CFBFD8D-FB4C-1CCB-6C5B-5DC41F437C13}"/>
              </a:ext>
            </a:extLst>
          </p:cNvPr>
          <p:cNvSpPr txBox="1"/>
          <p:nvPr/>
        </p:nvSpPr>
        <p:spPr>
          <a:xfrm rot="16200000">
            <a:off x="6323723" y="3816627"/>
            <a:ext cx="24216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Dependent variable (y)</a:t>
            </a:r>
          </a:p>
        </p:txBody>
      </p:sp>
    </p:spTree>
    <p:extLst>
      <p:ext uri="{BB962C8B-B14F-4D97-AF65-F5344CB8AC3E}">
        <p14:creationId xmlns:p14="http://schemas.microsoft.com/office/powerpoint/2010/main" val="33453105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F10D21-172E-5A50-70C4-348E839553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FA5055-05BD-84C5-4884-8B1FEC6EEB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to Machine Learning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EC111FA-DB56-7C0E-CFB5-7B43A652901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072"/>
                <a:ext cx="6696367" cy="4351338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b="1" dirty="0"/>
                  <a:t>Regression</a:t>
                </a:r>
                <a:r>
                  <a:rPr lang="en-US" dirty="0"/>
                  <a:t> – Predicting continuous labels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Note that the relation between the dependent and independent variables does not need to be linear. 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Similarly, a regression problem can have multiple independent variables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+…+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𝜖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EC111FA-DB56-7C0E-CFB5-7B43A652901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072"/>
                <a:ext cx="6696367" cy="4351338"/>
              </a:xfrm>
              <a:blipFill>
                <a:blip r:embed="rId3"/>
                <a:stretch>
                  <a:fillRect l="-1894" t="-3198" r="-1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 descr="Example of regression problem">
            <a:extLst>
              <a:ext uri="{FF2B5EF4-FFF2-40B4-BE49-F238E27FC236}">
                <a16:creationId xmlns:a16="http://schemas.microsoft.com/office/drawing/2014/main" id="{6310A7BE-0987-3E79-416B-E3837BA9E3F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534567" y="2472000"/>
            <a:ext cx="4818322" cy="305858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6DC27F6-DED1-6190-39B5-9368A36CE8D3}"/>
              </a:ext>
            </a:extLst>
          </p:cNvPr>
          <p:cNvSpPr txBox="1"/>
          <p:nvPr/>
        </p:nvSpPr>
        <p:spPr>
          <a:xfrm>
            <a:off x="8773760" y="5807078"/>
            <a:ext cx="25771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Independent variable (x)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1FD2339-C6E0-4440-1D58-CEEC42C66D68}"/>
              </a:ext>
            </a:extLst>
          </p:cNvPr>
          <p:cNvSpPr txBox="1"/>
          <p:nvPr/>
        </p:nvSpPr>
        <p:spPr>
          <a:xfrm rot="16200000">
            <a:off x="6323723" y="3816627"/>
            <a:ext cx="24216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Dependent variable (y)</a:t>
            </a:r>
          </a:p>
        </p:txBody>
      </p:sp>
    </p:spTree>
    <p:extLst>
      <p:ext uri="{BB962C8B-B14F-4D97-AF65-F5344CB8AC3E}">
        <p14:creationId xmlns:p14="http://schemas.microsoft.com/office/powerpoint/2010/main" val="403855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9ABCC2-1A3C-7727-EF9E-3B8EB001C4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to Machine 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BA3382-2344-BD1A-BF2F-0EB03D7172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755969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Classification</a:t>
            </a:r>
            <a:r>
              <a:rPr lang="en-US" dirty="0"/>
              <a:t> – Predicting discrete labels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In a classification problem, there are typically multiple features (or measures) and each feature set is associated with a label (or class).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In this example, we have two features for each data point, and a label, represented by the color of each point. </a:t>
            </a:r>
          </a:p>
        </p:txBody>
      </p:sp>
      <p:pic>
        <p:nvPicPr>
          <p:cNvPr id="1026" name="Picture 2" descr="Example of classification problem&#10;">
            <a:extLst>
              <a:ext uri="{FF2B5EF4-FFF2-40B4-BE49-F238E27FC236}">
                <a16:creationId xmlns:a16="http://schemas.microsoft.com/office/drawing/2014/main" id="{83F9D7F3-299A-4EFA-5A6A-C3E6F1A3B6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72865" y="2150076"/>
            <a:ext cx="5369184" cy="40268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869633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A2AB72-0ECB-4F7C-DF53-96F1F7EE41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64FA0-FFCC-D680-6851-22A029380F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to Machine Learning</a:t>
            </a:r>
          </a:p>
        </p:txBody>
      </p:sp>
      <p:pic>
        <p:nvPicPr>
          <p:cNvPr id="1026" name="Picture 2" descr="Example of classification problem">
            <a:extLst>
              <a:ext uri="{FF2B5EF4-FFF2-40B4-BE49-F238E27FC236}">
                <a16:creationId xmlns:a16="http://schemas.microsoft.com/office/drawing/2014/main" id="{6A9E8852-A955-28A2-85BD-D89AE1E05E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/>
        </p:blipFill>
        <p:spPr bwMode="auto">
          <a:xfrm>
            <a:off x="7372865" y="2150076"/>
            <a:ext cx="5369184" cy="40268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337AE6-333C-9277-3169-A200A26FCE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827874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Classification</a:t>
            </a:r>
            <a:r>
              <a:rPr lang="en-US" dirty="0"/>
              <a:t> – Predicting discrete labels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 objective of the classification problem is to define a boundary in the feature space that can separate the classes. This boundary can be a line or a more complex shape.</a:t>
            </a:r>
          </a:p>
          <a:p>
            <a:pPr marL="0" indent="0">
              <a:buNone/>
            </a:pPr>
            <a:r>
              <a:rPr lang="en-US" dirty="0"/>
              <a:t>Classification problems usually have more than two features, so the separation in the feature space might not be intuitive. </a:t>
            </a:r>
          </a:p>
        </p:txBody>
      </p:sp>
    </p:spTree>
    <p:extLst>
      <p:ext uri="{BB962C8B-B14F-4D97-AF65-F5344CB8AC3E}">
        <p14:creationId xmlns:p14="http://schemas.microsoft.com/office/powerpoint/2010/main" val="25417171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A81951-8CD5-61DE-ABD8-9D3ABF19F8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0CFA4-5270-F3BA-DDC6-572A00A886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to Machine 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86ECCB-B928-FFCC-315B-11DEB13EBB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687065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Classification</a:t>
            </a:r>
            <a:r>
              <a:rPr lang="en-US" dirty="0"/>
              <a:t> – Predicting discrete labels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Once the boundary is defined, we can use it to classify new data that does not have a label.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What is the label of the black dot ? </a:t>
            </a:r>
          </a:p>
          <a:p>
            <a:pPr marL="0" indent="0">
              <a:buNone/>
            </a:pPr>
            <a:r>
              <a:rPr lang="en-US" dirty="0"/>
              <a:t>What is the label of the green dot ? 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1026" name="Picture 2" descr="Example of classification problem">
            <a:extLst>
              <a:ext uri="{FF2B5EF4-FFF2-40B4-BE49-F238E27FC236}">
                <a16:creationId xmlns:a16="http://schemas.microsoft.com/office/drawing/2014/main" id="{818E14B7-2FD5-F4E6-4A70-8BF2465690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/>
        </p:blipFill>
        <p:spPr bwMode="auto">
          <a:xfrm>
            <a:off x="7372865" y="2150076"/>
            <a:ext cx="5369184" cy="40268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3FA54BF1-D1C8-675D-B57D-5C99E4A4F739}"/>
              </a:ext>
            </a:extLst>
          </p:cNvPr>
          <p:cNvSpPr/>
          <p:nvPr/>
        </p:nvSpPr>
        <p:spPr>
          <a:xfrm>
            <a:off x="11557591" y="4401879"/>
            <a:ext cx="91440" cy="9144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38285FCB-8A52-4597-49F6-924B36BF7861}"/>
              </a:ext>
            </a:extLst>
          </p:cNvPr>
          <p:cNvCxnSpPr/>
          <p:nvPr/>
        </p:nvCxnSpPr>
        <p:spPr>
          <a:xfrm flipH="1">
            <a:off x="11649031" y="3338623"/>
            <a:ext cx="642206" cy="97819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6A3107A5-C854-2893-E7A7-201B21680119}"/>
              </a:ext>
            </a:extLst>
          </p:cNvPr>
          <p:cNvSpPr/>
          <p:nvPr/>
        </p:nvSpPr>
        <p:spPr>
          <a:xfrm rot="17651866">
            <a:off x="10908858" y="4051401"/>
            <a:ext cx="91440" cy="91440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868AC9F4-B3C1-EF70-AAB2-51BFE740A978}"/>
              </a:ext>
            </a:extLst>
          </p:cNvPr>
          <p:cNvCxnSpPr/>
          <p:nvPr/>
        </p:nvCxnSpPr>
        <p:spPr>
          <a:xfrm flipH="1">
            <a:off x="11006825" y="3037317"/>
            <a:ext cx="642206" cy="97819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275572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C1DE8E-3377-DEC3-8D5A-FA2D4C3A22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723770-35F4-D6D7-31C5-93AE798B24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to Machine 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171420-17AD-AA41-68B7-A0FB2536EF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687065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Classification</a:t>
            </a:r>
            <a:r>
              <a:rPr lang="en-US" dirty="0"/>
              <a:t> – Predicting discrete labels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Not all classification problems are linearly separable, we will learn methods that can learn non-linear boundaries to separate the data. 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3074" name="Picture 2" descr="Example of classification problem">
            <a:extLst>
              <a:ext uri="{FF2B5EF4-FFF2-40B4-BE49-F238E27FC236}">
                <a16:creationId xmlns:a16="http://schemas.microsoft.com/office/drawing/2014/main" id="{722F887F-A016-2147-2B55-9CAC23872D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75503" y="1825625"/>
            <a:ext cx="5008880" cy="49335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677436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D2BBF8-0D7B-C127-B963-90322B75B1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3BC36A-C78D-B23C-B657-4C86EA0BF0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to Machine 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F6BC4B-EF20-8EB5-D277-38E2F98310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687065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Classification</a:t>
            </a:r>
            <a:r>
              <a:rPr lang="en-US" dirty="0"/>
              <a:t> – Predicting discrete labels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Not all classification problems are linearly separable, we will learn methods that can learn non-linear boundaries to separate the data. 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3074" name="Picture 2" descr="Example of classification problem">
            <a:extLst>
              <a:ext uri="{FF2B5EF4-FFF2-40B4-BE49-F238E27FC236}">
                <a16:creationId xmlns:a16="http://schemas.microsoft.com/office/drawing/2014/main" id="{79B2745D-FF1F-A59E-C356-4FA2EB0EC3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/>
        </p:blipFill>
        <p:spPr bwMode="auto">
          <a:xfrm>
            <a:off x="7407288" y="1825625"/>
            <a:ext cx="4945309" cy="49335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004445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675CD3-538D-B366-F33C-6005B0A72D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1BB93D-9D2F-173F-3D72-83378C554C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to Machine 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2F5377-EDEA-66CB-0055-1EEB73FBA0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072"/>
            <a:ext cx="6696367" cy="4351338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b="1" dirty="0"/>
              <a:t>Clustering</a:t>
            </a:r>
            <a:r>
              <a:rPr lang="en-US" dirty="0"/>
              <a:t> – Inferring labels from data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Clustering is a common unsupervised learning problem.  In a clustering problem, the features can typically be separated into different groups.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A clustering algorithm will use the structure of the data to determine how many groups are present and the class for each measurement. </a:t>
            </a:r>
          </a:p>
        </p:txBody>
      </p:sp>
      <p:pic>
        <p:nvPicPr>
          <p:cNvPr id="5" name="Picture 4" descr="Example of clustering problem">
            <a:extLst>
              <a:ext uri="{FF2B5EF4-FFF2-40B4-BE49-F238E27FC236}">
                <a16:creationId xmlns:a16="http://schemas.microsoft.com/office/drawing/2014/main" id="{DB58B566-2249-D766-6E39-8E2EECF701E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999909" y="2472000"/>
            <a:ext cx="4250424" cy="3344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09153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77C37D-4090-2E60-5823-56A6D0A386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50769C-42F2-B2AE-F41A-199497642C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to Machine 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2D6A5F-5AA9-A6AD-E550-BB82A72B5E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072"/>
            <a:ext cx="6696367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Clustering</a:t>
            </a:r>
            <a:r>
              <a:rPr lang="en-US" dirty="0"/>
              <a:t> – Inferring labels from data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In this example, the data can be separated into four groups. </a:t>
            </a:r>
          </a:p>
          <a:p>
            <a:pPr marL="0" indent="0">
              <a:buNone/>
            </a:pPr>
            <a:r>
              <a:rPr lang="en-US" dirty="0"/>
              <a:t>Once the groups are identified, is possible to assign new data to a cluster.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What is the cluster  of the black dot ? </a:t>
            </a:r>
          </a:p>
          <a:p>
            <a:pPr marL="0" indent="0">
              <a:buNone/>
            </a:pPr>
            <a:r>
              <a:rPr lang="en-US" dirty="0"/>
              <a:t>What is the cluster of the orange dot ? 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 descr="Example of clustering problem">
            <a:extLst>
              <a:ext uri="{FF2B5EF4-FFF2-40B4-BE49-F238E27FC236}">
                <a16:creationId xmlns:a16="http://schemas.microsoft.com/office/drawing/2014/main" id="{EF176362-76AA-2DD8-A9E9-12AAA0DBB00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011503" y="2472000"/>
            <a:ext cx="4227235" cy="3344009"/>
          </a:xfrm>
          <a:prstGeom prst="rect">
            <a:avLst/>
          </a:prstGeom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239AAA69-2A4E-EC19-B7F5-F1184893FB36}"/>
              </a:ext>
            </a:extLst>
          </p:cNvPr>
          <p:cNvSpPr/>
          <p:nvPr/>
        </p:nvSpPr>
        <p:spPr>
          <a:xfrm>
            <a:off x="11164186" y="4304464"/>
            <a:ext cx="91440" cy="9144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A46CB9BD-D6E4-A87C-25F2-B49E88D716E1}"/>
              </a:ext>
            </a:extLst>
          </p:cNvPr>
          <p:cNvCxnSpPr/>
          <p:nvPr/>
        </p:nvCxnSpPr>
        <p:spPr>
          <a:xfrm flipH="1">
            <a:off x="11255626" y="3241208"/>
            <a:ext cx="642206" cy="97819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6A64F2A0-C07D-162C-2D1F-762DFCCE0C14}"/>
              </a:ext>
            </a:extLst>
          </p:cNvPr>
          <p:cNvSpPr/>
          <p:nvPr/>
        </p:nvSpPr>
        <p:spPr>
          <a:xfrm rot="17651866">
            <a:off x="9112430" y="4431792"/>
            <a:ext cx="91440" cy="91440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D8DC8793-C65F-5775-D6F0-7679D3B15E99}"/>
              </a:ext>
            </a:extLst>
          </p:cNvPr>
          <p:cNvCxnSpPr/>
          <p:nvPr/>
        </p:nvCxnSpPr>
        <p:spPr>
          <a:xfrm flipH="1">
            <a:off x="9210397" y="3417708"/>
            <a:ext cx="642206" cy="97819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57584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251</TotalTime>
  <Words>931</Words>
  <Application>Microsoft Macintosh PowerPoint</Application>
  <PresentationFormat>Widescreen</PresentationFormat>
  <Paragraphs>101</Paragraphs>
  <Slides>15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Aptos</vt:lpstr>
      <vt:lpstr>Aptos Display</vt:lpstr>
      <vt:lpstr>Arial</vt:lpstr>
      <vt:lpstr>Calibri</vt:lpstr>
      <vt:lpstr>Cambria Math</vt:lpstr>
      <vt:lpstr>Office Theme</vt:lpstr>
      <vt:lpstr> APK 6725 AI for Sports and  Movement Sciences</vt:lpstr>
      <vt:lpstr>Introduction to Machine Learning</vt:lpstr>
      <vt:lpstr>Introduction to Machine Learning</vt:lpstr>
      <vt:lpstr>Introduction to Machine Learning</vt:lpstr>
      <vt:lpstr>Introduction to Machine Learning</vt:lpstr>
      <vt:lpstr>Introduction to Machine Learning</vt:lpstr>
      <vt:lpstr>Introduction to Machine Learning</vt:lpstr>
      <vt:lpstr>Introduction to Machine Learning</vt:lpstr>
      <vt:lpstr>Introduction to Machine Learning</vt:lpstr>
      <vt:lpstr>Introduction to Machine Learning</vt:lpstr>
      <vt:lpstr>Introduction to Machine Learning</vt:lpstr>
      <vt:lpstr>Introduction to Machine Learning</vt:lpstr>
      <vt:lpstr>Introduction to Machine Learning</vt:lpstr>
      <vt:lpstr>Introduction to Machine Learning</vt:lpstr>
      <vt:lpstr>Introduction to Machine Learning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Guarin, Diego L.</dc:creator>
  <cp:lastModifiedBy>Guarin, Diego L.</cp:lastModifiedBy>
  <cp:revision>5</cp:revision>
  <dcterms:created xsi:type="dcterms:W3CDTF">2025-12-30T16:37:11Z</dcterms:created>
  <dcterms:modified xsi:type="dcterms:W3CDTF">2026-09-30T15:40:20Z</dcterms:modified>
</cp:coreProperties>
</file>