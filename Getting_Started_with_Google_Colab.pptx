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1" r:id="rId2"/>
    <p:sldId id="257" r:id="rId3"/>
    <p:sldId id="258" r:id="rId4"/>
    <p:sldId id="259" r:id="rId5"/>
    <p:sldId id="260" r:id="rId6"/>
    <p:sldId id="272" r:id="rId7"/>
    <p:sldId id="274" r:id="rId8"/>
    <p:sldId id="261" r:id="rId9"/>
    <p:sldId id="262" r:id="rId10"/>
    <p:sldId id="273" r:id="rId11"/>
    <p:sldId id="263" r:id="rId12"/>
    <p:sldId id="264" r:id="rId13"/>
    <p:sldId id="265" r:id="rId14"/>
    <p:sldId id="266" r:id="rId15"/>
    <p:sldId id="267" r:id="rId16"/>
    <p:sldId id="268" r:id="rId17"/>
    <p:sldId id="269" r:id="rId18"/>
    <p:sldId id="270"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8453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AD51C-0F9F-88DE-D023-5FEA4AE3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1F228-F46D-E788-9C99-B4ED1361B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BAC99-E194-D74E-0337-53DB0059F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38489D-DF26-0112-FA7F-797DAADD68C2}"/>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12786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676E6-98CD-593E-5E9D-4293FCC53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1043E-21AA-69A0-86E0-D060B4BEC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32A41-759C-B02B-0679-6947785BA6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79EBD-D6BA-9BB7-9C07-E57BB3700B4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59770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AF890-B742-9EC7-C01C-311DA67E0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1EA19-163A-49DD-59F1-1D00B1884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2D21B-D3AB-E049-EFE4-042CA7C74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AEDA5-6F88-832A-F193-60C6055869C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41700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7D78-3C7B-EA15-9278-D46DB0B474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7F98C-1098-7530-44B3-1F361D2B2F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AD27DD-60BF-1A6F-36EC-C7E189A13284}"/>
              </a:ext>
            </a:extLst>
          </p:cNvPr>
          <p:cNvSpPr>
            <a:spLocks noGrp="1"/>
          </p:cNvSpPr>
          <p:nvPr>
            <p:ph type="dt" sz="half" idx="10"/>
          </p:nvPr>
        </p:nvSpPr>
        <p:spPr/>
        <p:txBody>
          <a:bodyPr/>
          <a:lstStyle/>
          <a:p>
            <a:fld id="{783CD771-E527-0B44-BA3C-FA5AD0F40365}" type="datetimeFigureOut">
              <a:rPr lang="en-US" smtClean="0"/>
              <a:t>8/24/26</a:t>
            </a:fld>
            <a:endParaRPr lang="en-US"/>
          </a:p>
        </p:txBody>
      </p:sp>
      <p:sp>
        <p:nvSpPr>
          <p:cNvPr id="5" name="Footer Placeholder 4">
            <a:extLst>
              <a:ext uri="{FF2B5EF4-FFF2-40B4-BE49-F238E27FC236}">
                <a16:creationId xmlns:a16="http://schemas.microsoft.com/office/drawing/2014/main" id="{6DEDF903-3BAB-F621-E331-9814FF78B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1F422-A7D2-07A4-0CF4-8C38497AAC62}"/>
              </a:ext>
            </a:extLst>
          </p:cNvPr>
          <p:cNvSpPr>
            <a:spLocks noGrp="1"/>
          </p:cNvSpPr>
          <p:nvPr>
            <p:ph type="sldNum" sz="quarter" idx="12"/>
          </p:nvPr>
        </p:nvSpPr>
        <p:spPr/>
        <p:txBody>
          <a:bodyPr/>
          <a:lstStyle/>
          <a:p>
            <a:fld id="{77198B7B-BBFC-0F40-894F-115E80AEEC4F}" type="slidenum">
              <a:rPr lang="en-US" smtClean="0"/>
              <a:t>‹#›</a:t>
            </a:fld>
            <a:endParaRPr lang="en-US"/>
          </a:p>
        </p:txBody>
      </p:sp>
    </p:spTree>
    <p:extLst>
      <p:ext uri="{BB962C8B-B14F-4D97-AF65-F5344CB8AC3E}">
        <p14:creationId xmlns:p14="http://schemas.microsoft.com/office/powerpoint/2010/main" val="25933304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dguari1/AIforMovementScienc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6BD58E-7C44-C62F-7C44-F73719BC7350}"/>
              </a:ext>
            </a:extLst>
          </p:cNvPr>
          <p:cNvSpPr>
            <a:spLocks noGrp="1"/>
          </p:cNvSpPr>
          <p:nvPr>
            <p:ph type="subTitle" idx="1"/>
          </p:nvPr>
        </p:nvSpPr>
        <p:spPr>
          <a:xfrm>
            <a:off x="1817199" y="4558399"/>
            <a:ext cx="8779376" cy="1351722"/>
          </a:xfrm>
        </p:spPr>
        <p:txBody>
          <a:bodyPr>
            <a:normAutofit/>
          </a:bodyPr>
          <a:lstStyle/>
          <a:p>
            <a:r>
              <a:rPr lang="en-US" sz="3200" dirty="0"/>
              <a:t>Getting Started with Google </a:t>
            </a:r>
            <a:r>
              <a:rPr lang="en-US" sz="3200" dirty="0" err="1"/>
              <a:t>Colab</a:t>
            </a:r>
            <a:endParaRPr lang="en-US" sz="3200" dirty="0"/>
          </a:p>
        </p:txBody>
      </p:sp>
      <p:pic>
        <p:nvPicPr>
          <p:cNvPr id="1026" name="Picture 2" descr="University of Florida Logo, symbol, meaning, history, PNG, brand">
            <a:extLst>
              <a:ext uri="{FF2B5EF4-FFF2-40B4-BE49-F238E27FC236}">
                <a16:creationId xmlns:a16="http://schemas.microsoft.com/office/drawing/2014/main" id="{58EAAEF0-DF6C-3FB1-9CE6-FAB6B4AF68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319" b="32609"/>
          <a:stretch/>
        </p:blipFill>
        <p:spPr bwMode="auto">
          <a:xfrm>
            <a:off x="1" y="5824826"/>
            <a:ext cx="5237018" cy="1033173"/>
          </a:xfrm>
          <a:prstGeom prst="rect">
            <a:avLst/>
          </a:prstGeom>
          <a:noFill/>
          <a:extLst>
            <a:ext uri="{909E8E84-426E-40DD-AFC4-6F175D3DCCD1}">
              <a14:hiddenFill xmlns:a14="http://schemas.microsoft.com/office/drawing/2010/main">
                <a:solidFill>
                  <a:srgbClr val="FFFFFF"/>
                </a:solidFill>
              </a14:hiddenFill>
            </a:ext>
          </a:extLst>
        </p:spPr>
      </p:pic>
      <p:sp>
        <p:nvSpPr>
          <p:cNvPr id="7" name="Triangle 6">
            <a:extLst>
              <a:ext uri="{FF2B5EF4-FFF2-40B4-BE49-F238E27FC236}">
                <a16:creationId xmlns:a16="http://schemas.microsoft.com/office/drawing/2014/main" id="{9F3E4CAE-D638-74D6-99C8-B124D9161783}"/>
              </a:ext>
            </a:extLst>
          </p:cNvPr>
          <p:cNvSpPr/>
          <p:nvPr/>
        </p:nvSpPr>
        <p:spPr>
          <a:xfrm rot="-2700000">
            <a:off x="9825790" y="4485310"/>
            <a:ext cx="2743200" cy="2743200"/>
          </a:xfrm>
          <a:prstGeom prst="triangle">
            <a:avLst/>
          </a:prstGeom>
          <a:solidFill>
            <a:schemeClr val="bg2">
              <a:alpha val="5969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descr="BeneScholar™ Tuition Discounts">
            <a:extLst>
              <a:ext uri="{FF2B5EF4-FFF2-40B4-BE49-F238E27FC236}">
                <a16:creationId xmlns:a16="http://schemas.microsoft.com/office/drawing/2014/main" id="{C3FF1229-1165-87C8-E022-95D94B7F1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63"/>
            <a:ext cx="7620000" cy="10541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DCF2DAD-8CAD-D82C-9823-A41E5C8DD594}"/>
              </a:ext>
            </a:extLst>
          </p:cNvPr>
          <p:cNvSpPr/>
          <p:nvPr/>
        </p:nvSpPr>
        <p:spPr>
          <a:xfrm>
            <a:off x="994612" y="1227221"/>
            <a:ext cx="10202778" cy="450841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DED9B5D4-5959-8D97-EE58-E2BA568A2DA2}"/>
              </a:ext>
            </a:extLst>
          </p:cNvPr>
          <p:cNvSpPr>
            <a:spLocks noGrp="1"/>
          </p:cNvSpPr>
          <p:nvPr>
            <p:ph type="ctrTitle"/>
          </p:nvPr>
        </p:nvSpPr>
        <p:spPr>
          <a:xfrm>
            <a:off x="791086" y="2490244"/>
            <a:ext cx="10701195" cy="1877511"/>
          </a:xfrm>
        </p:spPr>
        <p:txBody>
          <a:bodyPr>
            <a:normAutofit fontScale="90000"/>
          </a:bodyPr>
          <a:lstStyle/>
          <a:p>
            <a:br>
              <a:rPr lang="en-US" dirty="0">
                <a:effectLst/>
                <a:latin typeface="Calibri" panose="020F0502020204030204" pitchFamily="34" charset="0"/>
              </a:rPr>
            </a:br>
            <a:r>
              <a:rPr lang="en-US" u="sng" dirty="0">
                <a:effectLst/>
                <a:latin typeface="Calibri" panose="020F0502020204030204" pitchFamily="34" charset="0"/>
              </a:rPr>
              <a:t>APK 6725</a:t>
            </a:r>
            <a:br>
              <a:rPr lang="en-US" dirty="0">
                <a:effectLst/>
                <a:latin typeface="Calibri" panose="020F0502020204030204" pitchFamily="34" charset="0"/>
              </a:rPr>
            </a:br>
            <a:r>
              <a:rPr lang="en-US" dirty="0">
                <a:effectLst/>
                <a:latin typeface="Calibri" panose="020F0502020204030204" pitchFamily="34" charset="0"/>
              </a:rPr>
              <a:t>AI for Sports and  Movement Sciences</a:t>
            </a:r>
            <a:endParaRPr lang="en-US" dirty="0">
              <a:solidFill>
                <a:schemeClr val="tx1"/>
              </a:solidFill>
            </a:endParaRPr>
          </a:p>
        </p:txBody>
      </p:sp>
    </p:spTree>
    <p:extLst>
      <p:ext uri="{BB962C8B-B14F-4D97-AF65-F5344CB8AC3E}">
        <p14:creationId xmlns:p14="http://schemas.microsoft.com/office/powerpoint/2010/main" val="69241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Where you will work this term</a:t>
            </a:r>
            <a:endParaRPr lang="en-US" sz="3300" dirty="0"/>
          </a:p>
        </p:txBody>
      </p:sp>
      <p:sp>
        <p:nvSpPr>
          <p:cNvPr id="4" name="Text 2"/>
          <p:cNvSpPr/>
          <p:nvPr/>
        </p:nvSpPr>
        <p:spPr>
          <a:xfrm>
            <a:off x="548640" y="1691640"/>
            <a:ext cx="10972800" cy="4206240"/>
          </a:xfrm>
          <a:prstGeom prst="rect">
            <a:avLst/>
          </a:prstGeom>
          <a:noFill/>
          <a:ln/>
        </p:spPr>
        <p:txBody>
          <a:bodyPr wrap="square" rtlCol="0" anchor="t"/>
          <a:lstStyle/>
          <a:p>
            <a:pPr>
              <a:spcAft>
                <a:spcPts val="1000"/>
              </a:spcAft>
              <a:buSzPct val="100000"/>
            </a:pPr>
            <a:r>
              <a:rPr lang="en-US" sz="2800" b="1" dirty="0">
                <a:latin typeface="Arial" pitchFamily="34" charset="0"/>
                <a:ea typeface="Arial" pitchFamily="34" charset="-122"/>
                <a:cs typeface="Arial" pitchFamily="34" charset="-120"/>
              </a:rPr>
              <a:t>Google </a:t>
            </a:r>
            <a:r>
              <a:rPr lang="en-US" sz="2800" b="1" dirty="0" err="1">
                <a:latin typeface="Arial" pitchFamily="34" charset="0"/>
                <a:ea typeface="Arial" pitchFamily="34" charset="-122"/>
                <a:cs typeface="Arial" pitchFamily="34" charset="-120"/>
              </a:rPr>
              <a:t>Colab</a:t>
            </a:r>
            <a:endParaRPr lang="en-US" sz="2800" b="1" dirty="0"/>
          </a:p>
          <a:p>
            <a:pPr>
              <a:spcAft>
                <a:spcPts val="1000"/>
              </a:spcAft>
              <a:buSzPct val="100000"/>
            </a:pPr>
            <a:endParaRPr lang="en-US" sz="2800" dirty="0">
              <a:solidFill>
                <a:srgbClr val="1F2937"/>
              </a:solidFill>
              <a:latin typeface="Arial" pitchFamily="34" charset="0"/>
              <a:ea typeface="Arial" pitchFamily="34" charset="-122"/>
              <a:cs typeface="Arial" pitchFamily="34" charset="-120"/>
            </a:endParaRPr>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This course runs in Google Colab, a free service that runs Python notebooks in your web browser.</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There is nothing to install. It works on any computer, including Chromebooks and tablets.</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Colab is our main environment. For the deep-learning and computer-vision weeks, UF HiPerGator is a second option.</a:t>
            </a:r>
            <a:endParaRPr lang="en-US" sz="2800" dirty="0"/>
          </a:p>
        </p:txBody>
      </p:sp>
      <p:sp>
        <p:nvSpPr>
          <p:cNvPr id="5" name="Text 3"/>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What you need</a:t>
            </a:r>
            <a:endParaRPr lang="en-US" sz="3300" dirty="0"/>
          </a:p>
        </p:txBody>
      </p:sp>
      <p:sp>
        <p:nvSpPr>
          <p:cNvPr id="4" name="Text 2"/>
          <p:cNvSpPr/>
          <p:nvPr/>
        </p:nvSpPr>
        <p:spPr>
          <a:xfrm>
            <a:off x="548640" y="1691640"/>
            <a:ext cx="10972800" cy="4206240"/>
          </a:xfrm>
          <a:prstGeom prst="rect">
            <a:avLst/>
          </a:prstGeom>
          <a:noFill/>
          <a:ln/>
        </p:spPr>
        <p:txBody>
          <a:bodyPr wrap="square" rtlCol="0" anchor="t"/>
          <a:lstStyle/>
          <a:p>
            <a:pPr>
              <a:spcAft>
                <a:spcPts val="1000"/>
              </a:spcAft>
              <a:buSzPct val="100000"/>
            </a:pPr>
            <a:r>
              <a:rPr lang="en-US" sz="2800" b="1" dirty="0">
                <a:solidFill>
                  <a:srgbClr val="1F2937"/>
                </a:solidFill>
                <a:latin typeface="Arial" pitchFamily="34" charset="0"/>
                <a:ea typeface="Arial" pitchFamily="34" charset="-122"/>
                <a:cs typeface="Arial" pitchFamily="34" charset="-120"/>
              </a:rPr>
              <a:t>Accessing Google </a:t>
            </a:r>
            <a:r>
              <a:rPr lang="en-US" sz="2800" b="1" dirty="0" err="1">
                <a:solidFill>
                  <a:srgbClr val="1F2937"/>
                </a:solidFill>
                <a:latin typeface="Arial" pitchFamily="34" charset="0"/>
                <a:ea typeface="Arial" pitchFamily="34" charset="-122"/>
                <a:cs typeface="Arial" pitchFamily="34" charset="-120"/>
              </a:rPr>
              <a:t>Colab</a:t>
            </a:r>
            <a:r>
              <a:rPr lang="en-US" sz="2800" b="1" dirty="0">
                <a:solidFill>
                  <a:srgbClr val="1F2937"/>
                </a:solidFill>
                <a:latin typeface="Arial" pitchFamily="34" charset="0"/>
                <a:ea typeface="Arial" pitchFamily="34" charset="-122"/>
                <a:cs typeface="Arial" pitchFamily="34" charset="-120"/>
              </a:rPr>
              <a:t> </a:t>
            </a:r>
          </a:p>
          <a:p>
            <a:pPr>
              <a:spcAft>
                <a:spcPts val="1000"/>
              </a:spcAft>
              <a:buSzPct val="100000"/>
            </a:pPr>
            <a:endParaRPr lang="en-US" sz="2800" dirty="0">
              <a:solidFill>
                <a:srgbClr val="1F2937"/>
              </a:solidFill>
              <a:latin typeface="Arial" pitchFamily="34" charset="0"/>
              <a:ea typeface="Arial" pitchFamily="34" charset="-122"/>
              <a:cs typeface="Arial" pitchFamily="34" charset="-120"/>
            </a:endParaRPr>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All you need to access Google </a:t>
            </a:r>
            <a:r>
              <a:rPr lang="en-US" sz="2800" dirty="0" err="1">
                <a:solidFill>
                  <a:srgbClr val="1F2937"/>
                </a:solidFill>
                <a:latin typeface="Arial" pitchFamily="34" charset="0"/>
                <a:ea typeface="Arial" pitchFamily="34" charset="-122"/>
                <a:cs typeface="Arial" pitchFamily="34" charset="-120"/>
              </a:rPr>
              <a:t>Colab</a:t>
            </a:r>
            <a:r>
              <a:rPr lang="en-US" sz="2800" dirty="0">
                <a:solidFill>
                  <a:srgbClr val="1F2937"/>
                </a:solidFill>
                <a:latin typeface="Arial" pitchFamily="34" charset="0"/>
                <a:ea typeface="Arial" pitchFamily="34" charset="-122"/>
                <a:cs typeface="Arial" pitchFamily="34" charset="-120"/>
              </a:rPr>
              <a:t> is a Google Account. </a:t>
            </a:r>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As a UF student you already have one: your UF account includes Google Drive.</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You can sign in with your UF Google account or a personal Google account. Either one works.</a:t>
            </a:r>
            <a:endParaRPr lang="en-US" sz="2800" dirty="0"/>
          </a:p>
        </p:txBody>
      </p:sp>
      <p:sp>
        <p:nvSpPr>
          <p:cNvPr id="5" name="Text 3"/>
          <p:cNvSpPr/>
          <p:nvPr/>
        </p:nvSpPr>
        <p:spPr>
          <a:xfrm>
            <a:off x="1005840" y="5897880"/>
            <a:ext cx="10972800" cy="457200"/>
          </a:xfrm>
          <a:prstGeom prst="rect">
            <a:avLst/>
          </a:prstGeom>
          <a:noFill/>
          <a:ln/>
        </p:spPr>
        <p:txBody>
          <a:bodyPr wrap="square" rtlCol="0" anchor="ctr"/>
          <a:lstStyle/>
          <a:p>
            <a:pPr marL="0" indent="0">
              <a:buNone/>
            </a:pPr>
            <a:r>
              <a:rPr lang="en-US" sz="2800" dirty="0">
                <a:solidFill>
                  <a:srgbClr val="1F2937"/>
                </a:solidFill>
                <a:latin typeface="Arial" pitchFamily="34" charset="0"/>
                <a:ea typeface="Arial" pitchFamily="34" charset="-122"/>
                <a:cs typeface="Arial" pitchFamily="34" charset="-120"/>
              </a:rPr>
              <a:t>Open Colab at:  </a:t>
            </a:r>
            <a:r>
              <a:rPr lang="en-US" sz="2800" u="sng" dirty="0">
                <a:solidFill>
                  <a:srgbClr val="2C7A8C"/>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https://colab.research.google.com</a:t>
            </a:r>
            <a:endParaRPr lang="en-US" sz="2800" dirty="0"/>
          </a:p>
        </p:txBody>
      </p:sp>
      <p:sp>
        <p:nvSpPr>
          <p:cNvPr id="6" name="Text 4"/>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How this course is set up in Colab</a:t>
            </a:r>
            <a:endParaRPr lang="en-US" sz="3300" dirty="0"/>
          </a:p>
        </p:txBody>
      </p:sp>
      <p:sp>
        <p:nvSpPr>
          <p:cNvPr id="3" name="Text 1"/>
          <p:cNvSpPr/>
          <p:nvPr/>
        </p:nvSpPr>
        <p:spPr>
          <a:xfrm>
            <a:off x="566928" y="1600199"/>
            <a:ext cx="10972800" cy="1896301"/>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The course files live in one folder in your Google Drive. You download it once, and a setup cell keeps it up to date.</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You always work on your own copy of a notebook, so your answers are never overwritten by an update</a:t>
            </a:r>
            <a:r>
              <a:rPr lang="en-US" sz="1800" dirty="0">
                <a:solidFill>
                  <a:srgbClr val="1F2937"/>
                </a:solidFill>
                <a:latin typeface="Arial" pitchFamily="34" charset="0"/>
                <a:ea typeface="Arial" pitchFamily="34" charset="-122"/>
                <a:cs typeface="Arial" pitchFamily="34" charset="-120"/>
              </a:rPr>
              <a:t>.</a:t>
            </a:r>
            <a:endParaRPr lang="en-US" sz="1800" dirty="0"/>
          </a:p>
        </p:txBody>
      </p:sp>
      <p:pic>
        <p:nvPicPr>
          <p:cNvPr id="4" name="Image 0" descr="/tmp/img_drivetree.png"/>
          <p:cNvPicPr>
            <a:picLocks noChangeAspect="1"/>
          </p:cNvPicPr>
          <p:nvPr/>
        </p:nvPicPr>
        <p:blipFill>
          <a:blip r:embed="rId3"/>
          <a:stretch>
            <a:fillRect/>
          </a:stretch>
        </p:blipFill>
        <p:spPr>
          <a:xfrm>
            <a:off x="2030939" y="3496501"/>
            <a:ext cx="8130121" cy="3361499"/>
          </a:xfrm>
          <a:prstGeom prst="rect">
            <a:avLst/>
          </a:prstGeom>
        </p:spPr>
      </p:pic>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1: Open Colab and sign in</a:t>
            </a:r>
            <a:endParaRPr lang="en-US" sz="3300" dirty="0"/>
          </a:p>
        </p:txBody>
      </p:sp>
      <p:sp>
        <p:nvSpPr>
          <p:cNvPr id="3" name="Text 1"/>
          <p:cNvSpPr/>
          <p:nvPr/>
        </p:nvSpPr>
        <p:spPr>
          <a:xfrm>
            <a:off x="594360" y="1552973"/>
            <a:ext cx="10972800"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Go to  https://colab.research.google.com</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Click  Sign in  (top-right) and choose your Google account.</a:t>
            </a:r>
            <a:endParaRPr lang="en-US" sz="28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5</a:t>
            </a:r>
            <a:endParaRPr lang="en-US" sz="1000" dirty="0"/>
          </a:p>
        </p:txBody>
      </p:sp>
      <p:pic>
        <p:nvPicPr>
          <p:cNvPr id="7" name="Picture 6">
            <a:extLst>
              <a:ext uri="{FF2B5EF4-FFF2-40B4-BE49-F238E27FC236}">
                <a16:creationId xmlns:a16="http://schemas.microsoft.com/office/drawing/2014/main" id="{D4CA255B-B049-7FBB-F074-93EE3A7EDB31}"/>
              </a:ext>
            </a:extLst>
          </p:cNvPr>
          <p:cNvPicPr>
            <a:picLocks noChangeAspect="1"/>
          </p:cNvPicPr>
          <p:nvPr/>
        </p:nvPicPr>
        <p:blipFill>
          <a:blip r:embed="rId3"/>
          <a:stretch>
            <a:fillRect/>
          </a:stretch>
        </p:blipFill>
        <p:spPr>
          <a:xfrm>
            <a:off x="77821" y="2818117"/>
            <a:ext cx="12036357" cy="37655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142B33-FE2D-EF6D-10DD-1945656460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7EB6B0-B0FA-6AA5-02BC-F963D8BB33C6}"/>
              </a:ext>
            </a:extLst>
          </p:cNvPr>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2: Open a new Notebook</a:t>
            </a:r>
            <a:endParaRPr lang="en-US" sz="3300" dirty="0"/>
          </a:p>
        </p:txBody>
      </p:sp>
      <p:sp>
        <p:nvSpPr>
          <p:cNvPr id="3" name="Text 1">
            <a:extLst>
              <a:ext uri="{FF2B5EF4-FFF2-40B4-BE49-F238E27FC236}">
                <a16:creationId xmlns:a16="http://schemas.microsoft.com/office/drawing/2014/main" id="{1B1516F5-031B-B8DE-D9C0-DEE727A93887}"/>
              </a:ext>
            </a:extLst>
          </p:cNvPr>
          <p:cNvSpPr/>
          <p:nvPr/>
        </p:nvSpPr>
        <p:spPr>
          <a:xfrm>
            <a:off x="623343" y="1521369"/>
            <a:ext cx="5974549" cy="2747722"/>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After signing, click on </a:t>
            </a:r>
          </a:p>
          <a:p>
            <a:pPr lvl="1">
              <a:spcAft>
                <a:spcPts val="1000"/>
              </a:spcAft>
              <a:buSzPct val="100000"/>
            </a:pPr>
            <a:endParaRPr lang="en-US" sz="2800" dirty="0">
              <a:solidFill>
                <a:srgbClr val="1F2937"/>
              </a:solidFill>
              <a:latin typeface="Arial" pitchFamily="34" charset="0"/>
              <a:ea typeface="Arial" pitchFamily="34" charset="-122"/>
              <a:cs typeface="Arial" pitchFamily="34" charset="-120"/>
            </a:endParaRPr>
          </a:p>
          <a:p>
            <a:pPr>
              <a:spcAft>
                <a:spcPts val="1000"/>
              </a:spcAft>
              <a:buSzPct val="100000"/>
            </a:pP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Once you access </a:t>
            </a:r>
            <a:r>
              <a:rPr lang="en-US" sz="2800" dirty="0" err="1">
                <a:solidFill>
                  <a:srgbClr val="1F2937"/>
                </a:solidFill>
                <a:latin typeface="Arial" pitchFamily="34" charset="0"/>
                <a:ea typeface="Arial" pitchFamily="34" charset="-122"/>
                <a:cs typeface="Arial" pitchFamily="34" charset="-120"/>
              </a:rPr>
              <a:t>Colab</a:t>
            </a:r>
            <a:r>
              <a:rPr lang="en-US" sz="2800" dirty="0">
                <a:solidFill>
                  <a:srgbClr val="1F2937"/>
                </a:solidFill>
                <a:latin typeface="Arial" pitchFamily="34" charset="0"/>
                <a:ea typeface="Arial" pitchFamily="34" charset="-122"/>
                <a:cs typeface="Arial" pitchFamily="34" charset="-120"/>
              </a:rPr>
              <a:t>, click :  File -&gt; Open notebook -&gt; GitHub</a:t>
            </a:r>
          </a:p>
          <a:p>
            <a:pPr marL="228600" indent="-228600">
              <a:spcAft>
                <a:spcPts val="1000"/>
              </a:spcAft>
              <a:buSzPct val="100000"/>
              <a:buChar char="•"/>
            </a:pPr>
            <a:endParaRPr lang="en-US" sz="2800" dirty="0">
              <a:solidFill>
                <a:srgbClr val="1F2937"/>
              </a:solidFill>
              <a:latin typeface="Arial" pitchFamily="34" charset="0"/>
              <a:ea typeface="Arial" pitchFamily="34" charset="-122"/>
              <a:cs typeface="Arial" pitchFamily="34" charset="-120"/>
            </a:endParaRPr>
          </a:p>
          <a:p>
            <a:pPr>
              <a:spcAft>
                <a:spcPts val="1000"/>
              </a:spcAft>
              <a:buSzPct val="100000"/>
            </a:pPr>
            <a:r>
              <a:rPr lang="en-US" sz="2800" dirty="0">
                <a:solidFill>
                  <a:srgbClr val="1F2937"/>
                </a:solidFill>
                <a:latin typeface="Arial" pitchFamily="34" charset="0"/>
                <a:cs typeface="Arial" pitchFamily="34" charset="-120"/>
              </a:rPr>
              <a:t>This action will open a search bar.</a:t>
            </a:r>
            <a:endParaRPr lang="en-US" sz="2800" dirty="0"/>
          </a:p>
        </p:txBody>
      </p:sp>
      <p:sp>
        <p:nvSpPr>
          <p:cNvPr id="5" name="Text 2">
            <a:extLst>
              <a:ext uri="{FF2B5EF4-FFF2-40B4-BE49-F238E27FC236}">
                <a16:creationId xmlns:a16="http://schemas.microsoft.com/office/drawing/2014/main" id="{43A7A53D-079E-5237-F4F6-C6EED296672C}"/>
              </a:ext>
            </a:extLst>
          </p:cNvPr>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pic>
        <p:nvPicPr>
          <p:cNvPr id="4" name="Picture 3">
            <a:extLst>
              <a:ext uri="{FF2B5EF4-FFF2-40B4-BE49-F238E27FC236}">
                <a16:creationId xmlns:a16="http://schemas.microsoft.com/office/drawing/2014/main" id="{5FFE4DFD-90E3-0CE9-530D-F1136217983A}"/>
              </a:ext>
            </a:extLst>
          </p:cNvPr>
          <p:cNvPicPr>
            <a:picLocks noChangeAspect="1"/>
          </p:cNvPicPr>
          <p:nvPr/>
        </p:nvPicPr>
        <p:blipFill>
          <a:blip r:embed="rId3"/>
          <a:stretch>
            <a:fillRect/>
          </a:stretch>
        </p:blipFill>
        <p:spPr>
          <a:xfrm>
            <a:off x="7133681" y="1695297"/>
            <a:ext cx="4296319" cy="4751223"/>
          </a:xfrm>
          <a:prstGeom prst="rect">
            <a:avLst/>
          </a:prstGeom>
        </p:spPr>
      </p:pic>
      <p:pic>
        <p:nvPicPr>
          <p:cNvPr id="10" name="Picture 9">
            <a:extLst>
              <a:ext uri="{FF2B5EF4-FFF2-40B4-BE49-F238E27FC236}">
                <a16:creationId xmlns:a16="http://schemas.microsoft.com/office/drawing/2014/main" id="{F3302C21-522C-7120-25AE-888831C8E737}"/>
              </a:ext>
            </a:extLst>
          </p:cNvPr>
          <p:cNvPicPr>
            <a:picLocks noChangeAspect="1"/>
          </p:cNvPicPr>
          <p:nvPr/>
        </p:nvPicPr>
        <p:blipFill>
          <a:blip r:embed="rId4"/>
          <a:srcRect l="5684" t="27631" r="79859" b="51419"/>
          <a:stretch/>
        </p:blipFill>
        <p:spPr>
          <a:xfrm>
            <a:off x="2740597" y="2327401"/>
            <a:ext cx="1740040" cy="788893"/>
          </a:xfrm>
          <a:prstGeom prst="rect">
            <a:avLst/>
          </a:prstGeom>
        </p:spPr>
      </p:pic>
    </p:spTree>
    <p:extLst>
      <p:ext uri="{BB962C8B-B14F-4D97-AF65-F5344CB8AC3E}">
        <p14:creationId xmlns:p14="http://schemas.microsoft.com/office/powerpoint/2010/main" val="2119121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0F07-57EA-8D11-84F1-5B732E10A5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CBC122-1332-150B-979E-AB2F37712B00}"/>
              </a:ext>
            </a:extLst>
          </p:cNvPr>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3: Open a new Notebook from the Repository</a:t>
            </a:r>
            <a:endParaRPr lang="en-US" sz="3300" dirty="0"/>
          </a:p>
        </p:txBody>
      </p:sp>
      <p:sp>
        <p:nvSpPr>
          <p:cNvPr id="5" name="Text 2">
            <a:extLst>
              <a:ext uri="{FF2B5EF4-FFF2-40B4-BE49-F238E27FC236}">
                <a16:creationId xmlns:a16="http://schemas.microsoft.com/office/drawing/2014/main" id="{386AF917-6CC0-9924-1B41-9ABCFEB4B0F4}"/>
              </a:ext>
            </a:extLst>
          </p:cNvPr>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pic>
        <p:nvPicPr>
          <p:cNvPr id="7" name="Picture 6">
            <a:extLst>
              <a:ext uri="{FF2B5EF4-FFF2-40B4-BE49-F238E27FC236}">
                <a16:creationId xmlns:a16="http://schemas.microsoft.com/office/drawing/2014/main" id="{34989D95-68F5-C237-4CEE-396D69EAC51E}"/>
              </a:ext>
            </a:extLst>
          </p:cNvPr>
          <p:cNvPicPr>
            <a:picLocks noChangeAspect="1"/>
          </p:cNvPicPr>
          <p:nvPr/>
        </p:nvPicPr>
        <p:blipFill>
          <a:blip r:embed="rId3"/>
          <a:stretch>
            <a:fillRect/>
          </a:stretch>
        </p:blipFill>
        <p:spPr>
          <a:xfrm>
            <a:off x="3042456" y="3123236"/>
            <a:ext cx="6107087" cy="3597604"/>
          </a:xfrm>
          <a:prstGeom prst="rect">
            <a:avLst/>
          </a:prstGeom>
        </p:spPr>
      </p:pic>
      <p:sp>
        <p:nvSpPr>
          <p:cNvPr id="9" name="TextBox 8">
            <a:extLst>
              <a:ext uri="{FF2B5EF4-FFF2-40B4-BE49-F238E27FC236}">
                <a16:creationId xmlns:a16="http://schemas.microsoft.com/office/drawing/2014/main" id="{372DE033-9533-F5DD-8A85-E1AA31BD2972}"/>
              </a:ext>
            </a:extLst>
          </p:cNvPr>
          <p:cNvSpPr txBox="1"/>
          <p:nvPr/>
        </p:nvSpPr>
        <p:spPr>
          <a:xfrm>
            <a:off x="390142" y="1656064"/>
            <a:ext cx="11411713" cy="954107"/>
          </a:xfrm>
          <a:prstGeom prst="rect">
            <a:avLst/>
          </a:prstGeom>
          <a:noFill/>
        </p:spPr>
        <p:txBody>
          <a:bodyPr wrap="square">
            <a:spAutoFit/>
          </a:bodyPr>
          <a:lstStyle/>
          <a:p>
            <a:r>
              <a:rPr lang="en-US" sz="2800" dirty="0">
                <a:solidFill>
                  <a:srgbClr val="1F2937"/>
                </a:solidFill>
                <a:latin typeface="Arial" pitchFamily="34" charset="0"/>
                <a:ea typeface="Arial" pitchFamily="34" charset="-122"/>
                <a:cs typeface="Arial" pitchFamily="34" charset="-120"/>
              </a:rPr>
              <a:t>In the search bar, type  “dguari1/</a:t>
            </a:r>
            <a:r>
              <a:rPr lang="en-US" sz="2800" dirty="0" err="1">
                <a:solidFill>
                  <a:srgbClr val="1F2937"/>
                </a:solidFill>
                <a:latin typeface="Arial" pitchFamily="34" charset="0"/>
                <a:ea typeface="Arial" pitchFamily="34" charset="-122"/>
                <a:cs typeface="Arial" pitchFamily="34" charset="-120"/>
              </a:rPr>
              <a:t>AIforMovementScience</a:t>
            </a:r>
            <a:r>
              <a:rPr lang="en-US" sz="2800" dirty="0">
                <a:solidFill>
                  <a:srgbClr val="1F2937"/>
                </a:solidFill>
                <a:latin typeface="Arial" pitchFamily="34" charset="0"/>
                <a:ea typeface="Arial" pitchFamily="34" charset="-122"/>
                <a:cs typeface="Arial" pitchFamily="34" charset="-120"/>
              </a:rPr>
              <a:t>” and press Enter.</a:t>
            </a:r>
            <a:endParaRPr lang="en-US" sz="2800" dirty="0"/>
          </a:p>
        </p:txBody>
      </p:sp>
    </p:spTree>
    <p:extLst>
      <p:ext uri="{BB962C8B-B14F-4D97-AF65-F5344CB8AC3E}">
        <p14:creationId xmlns:p14="http://schemas.microsoft.com/office/powerpoint/2010/main" val="1864213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4: Open the course notebook from GitHub</a:t>
            </a:r>
            <a:endParaRPr lang="en-US" sz="3300" dirty="0"/>
          </a:p>
        </p:txBody>
      </p:sp>
      <p:sp>
        <p:nvSpPr>
          <p:cNvPr id="3" name="Text 1"/>
          <p:cNvSpPr/>
          <p:nvPr/>
        </p:nvSpPr>
        <p:spPr>
          <a:xfrm>
            <a:off x="623343" y="1521369"/>
            <a:ext cx="11355297" cy="2747722"/>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Localize and click on the first Notebook of the series, called </a:t>
            </a:r>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6</a:t>
            </a:r>
            <a:endParaRPr lang="en-US" sz="1000" dirty="0"/>
          </a:p>
        </p:txBody>
      </p:sp>
      <p:sp>
        <p:nvSpPr>
          <p:cNvPr id="11" name="TextBox 10">
            <a:extLst>
              <a:ext uri="{FF2B5EF4-FFF2-40B4-BE49-F238E27FC236}">
                <a16:creationId xmlns:a16="http://schemas.microsoft.com/office/drawing/2014/main" id="{7BFCCC2B-7DE8-B837-42E4-10E8F8DA3BD6}"/>
              </a:ext>
            </a:extLst>
          </p:cNvPr>
          <p:cNvSpPr txBox="1"/>
          <p:nvPr/>
        </p:nvSpPr>
        <p:spPr>
          <a:xfrm>
            <a:off x="2214406" y="2151116"/>
            <a:ext cx="7763188" cy="523220"/>
          </a:xfrm>
          <a:prstGeom prst="rect">
            <a:avLst/>
          </a:prstGeom>
          <a:noFill/>
        </p:spPr>
        <p:txBody>
          <a:bodyPr wrap="square">
            <a:spAutoFit/>
          </a:bodyPr>
          <a:lstStyle/>
          <a:p>
            <a:pPr>
              <a:spcAft>
                <a:spcPts val="1000"/>
              </a:spcAft>
              <a:buSzPct val="100000"/>
            </a:pPr>
            <a:r>
              <a:rPr lang="en-US" sz="2800" dirty="0">
                <a:solidFill>
                  <a:srgbClr val="1F2937"/>
                </a:solidFill>
                <a:latin typeface="Arial" pitchFamily="34" charset="0"/>
                <a:ea typeface="Arial" pitchFamily="34" charset="-122"/>
                <a:cs typeface="Arial" pitchFamily="34" charset="-120"/>
              </a:rPr>
              <a:t>01.01 – Introduction to </a:t>
            </a:r>
            <a:r>
              <a:rPr lang="en-US" sz="2800" dirty="0" err="1">
                <a:solidFill>
                  <a:srgbClr val="1F2937"/>
                </a:solidFill>
                <a:latin typeface="Arial" pitchFamily="34" charset="0"/>
                <a:ea typeface="Arial" pitchFamily="34" charset="-122"/>
                <a:cs typeface="Arial" pitchFamily="34" charset="-120"/>
              </a:rPr>
              <a:t>Jupyter</a:t>
            </a:r>
            <a:r>
              <a:rPr lang="en-US" sz="2800" dirty="0">
                <a:solidFill>
                  <a:srgbClr val="1F2937"/>
                </a:solidFill>
                <a:latin typeface="Arial" pitchFamily="34" charset="0"/>
                <a:ea typeface="Arial" pitchFamily="34" charset="-122"/>
                <a:cs typeface="Arial" pitchFamily="34" charset="-120"/>
              </a:rPr>
              <a:t> </a:t>
            </a:r>
            <a:r>
              <a:rPr lang="en-US" sz="2800" dirty="0" err="1">
                <a:solidFill>
                  <a:srgbClr val="1F2937"/>
                </a:solidFill>
                <a:latin typeface="Arial" pitchFamily="34" charset="0"/>
                <a:ea typeface="Arial" pitchFamily="34" charset="-122"/>
                <a:cs typeface="Arial" pitchFamily="34" charset="-120"/>
              </a:rPr>
              <a:t>Notebooks.ipynb</a:t>
            </a:r>
            <a:endParaRPr lang="en-US" sz="2800" dirty="0">
              <a:solidFill>
                <a:srgbClr val="1F2937"/>
              </a:solidFill>
              <a:latin typeface="Arial" pitchFamily="34" charset="0"/>
              <a:ea typeface="Arial" pitchFamily="34" charset="-122"/>
              <a:cs typeface="Arial" pitchFamily="34" charset="-120"/>
            </a:endParaRPr>
          </a:p>
        </p:txBody>
      </p:sp>
      <p:pic>
        <p:nvPicPr>
          <p:cNvPr id="12" name="Picture 11">
            <a:extLst>
              <a:ext uri="{FF2B5EF4-FFF2-40B4-BE49-F238E27FC236}">
                <a16:creationId xmlns:a16="http://schemas.microsoft.com/office/drawing/2014/main" id="{6241C009-D95A-793F-2369-6FA5019FBE23}"/>
              </a:ext>
            </a:extLst>
          </p:cNvPr>
          <p:cNvPicPr>
            <a:picLocks noChangeAspect="1"/>
          </p:cNvPicPr>
          <p:nvPr/>
        </p:nvPicPr>
        <p:blipFill>
          <a:blip r:embed="rId3"/>
          <a:stretch>
            <a:fillRect/>
          </a:stretch>
        </p:blipFill>
        <p:spPr>
          <a:xfrm>
            <a:off x="3442816" y="2761650"/>
            <a:ext cx="5306368" cy="4096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5: Run the setup cell (first cell of every notebook)</a:t>
            </a:r>
            <a:endParaRPr lang="en-US" sz="3300" dirty="0"/>
          </a:p>
        </p:txBody>
      </p:sp>
      <p:sp>
        <p:nvSpPr>
          <p:cNvPr id="3" name="Text 1"/>
          <p:cNvSpPr/>
          <p:nvPr/>
        </p:nvSpPr>
        <p:spPr>
          <a:xfrm>
            <a:off x="566928" y="1481328"/>
            <a:ext cx="10972800" cy="155448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The first cell of each Notebooks downloads the course material to your Google Drive and updates them to the latest version.</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Run it at the start of every session by clicking on the     button. The first time it downloads everything; after that it checks for updates.</a:t>
            </a:r>
            <a:endParaRPr lang="en-US" sz="2800" dirty="0"/>
          </a:p>
        </p:txBody>
      </p:sp>
      <p:sp>
        <p:nvSpPr>
          <p:cNvPr id="6" name="Text 3"/>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pic>
        <p:nvPicPr>
          <p:cNvPr id="7" name="Picture 6">
            <a:extLst>
              <a:ext uri="{FF2B5EF4-FFF2-40B4-BE49-F238E27FC236}">
                <a16:creationId xmlns:a16="http://schemas.microsoft.com/office/drawing/2014/main" id="{32F472D1-0375-C9ED-6902-844D80BBB7EB}"/>
              </a:ext>
            </a:extLst>
          </p:cNvPr>
          <p:cNvPicPr>
            <a:picLocks noChangeAspect="1"/>
          </p:cNvPicPr>
          <p:nvPr/>
        </p:nvPicPr>
        <p:blipFill>
          <a:blip r:embed="rId3"/>
          <a:stretch>
            <a:fillRect/>
          </a:stretch>
        </p:blipFill>
        <p:spPr>
          <a:xfrm>
            <a:off x="2562120" y="3703320"/>
            <a:ext cx="7067759" cy="3215138"/>
          </a:xfrm>
          <a:prstGeom prst="rect">
            <a:avLst/>
          </a:prstGeom>
        </p:spPr>
      </p:pic>
      <p:pic>
        <p:nvPicPr>
          <p:cNvPr id="8" name="Picture 7">
            <a:extLst>
              <a:ext uri="{FF2B5EF4-FFF2-40B4-BE49-F238E27FC236}">
                <a16:creationId xmlns:a16="http://schemas.microsoft.com/office/drawing/2014/main" id="{16B8AE70-694B-E2B7-6C5C-336016414D2E}"/>
              </a:ext>
            </a:extLst>
          </p:cNvPr>
          <p:cNvPicPr>
            <a:picLocks noChangeAspect="1"/>
          </p:cNvPicPr>
          <p:nvPr/>
        </p:nvPicPr>
        <p:blipFill>
          <a:blip r:embed="rId4"/>
          <a:stretch>
            <a:fillRect/>
          </a:stretch>
        </p:blipFill>
        <p:spPr>
          <a:xfrm>
            <a:off x="9122021" y="2525462"/>
            <a:ext cx="419100" cy="444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E43C14-642A-E2C9-70AA-5664A2B81C0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24BD97-FB01-259F-29AE-5FA4CCF4201F}"/>
              </a:ext>
            </a:extLst>
          </p:cNvPr>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5: Run the setup cell (first cell of every notebook)</a:t>
            </a:r>
            <a:endParaRPr lang="en-US" sz="3300" dirty="0"/>
          </a:p>
        </p:txBody>
      </p:sp>
      <p:sp>
        <p:nvSpPr>
          <p:cNvPr id="3" name="Text 1">
            <a:extLst>
              <a:ext uri="{FF2B5EF4-FFF2-40B4-BE49-F238E27FC236}">
                <a16:creationId xmlns:a16="http://schemas.microsoft.com/office/drawing/2014/main" id="{AF0E5490-4946-094C-CE63-9AA9F2A2FF5E}"/>
              </a:ext>
            </a:extLst>
          </p:cNvPr>
          <p:cNvSpPr/>
          <p:nvPr/>
        </p:nvSpPr>
        <p:spPr>
          <a:xfrm>
            <a:off x="566928" y="1481328"/>
            <a:ext cx="10972800" cy="155448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The first cell of each Notebooks downloads the course material to your Google Drive and updates them to the latest version.</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Run it at the start of every session by clicking on the     button. The first time it downloads everything; after that it checks for updates.</a:t>
            </a:r>
            <a:endParaRPr lang="en-US" sz="2800" dirty="0"/>
          </a:p>
        </p:txBody>
      </p:sp>
      <p:sp>
        <p:nvSpPr>
          <p:cNvPr id="6" name="Text 3">
            <a:extLst>
              <a:ext uri="{FF2B5EF4-FFF2-40B4-BE49-F238E27FC236}">
                <a16:creationId xmlns:a16="http://schemas.microsoft.com/office/drawing/2014/main" id="{A09E21F6-9C95-DE85-E76D-BE2F2FA1F2C6}"/>
              </a:ext>
            </a:extLst>
          </p:cNvPr>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7</a:t>
            </a:r>
            <a:endParaRPr lang="en-US" sz="1000" dirty="0"/>
          </a:p>
        </p:txBody>
      </p:sp>
      <p:pic>
        <p:nvPicPr>
          <p:cNvPr id="7" name="Picture 6">
            <a:extLst>
              <a:ext uri="{FF2B5EF4-FFF2-40B4-BE49-F238E27FC236}">
                <a16:creationId xmlns:a16="http://schemas.microsoft.com/office/drawing/2014/main" id="{13D13DB0-CB09-90B3-2E90-1D5F9CFA44ED}"/>
              </a:ext>
            </a:extLst>
          </p:cNvPr>
          <p:cNvPicPr>
            <a:picLocks noChangeAspect="1"/>
          </p:cNvPicPr>
          <p:nvPr/>
        </p:nvPicPr>
        <p:blipFill>
          <a:blip r:embed="rId3"/>
          <a:stretch>
            <a:fillRect/>
          </a:stretch>
        </p:blipFill>
        <p:spPr>
          <a:xfrm>
            <a:off x="2562120" y="3703320"/>
            <a:ext cx="7067759" cy="3215138"/>
          </a:xfrm>
          <a:prstGeom prst="rect">
            <a:avLst/>
          </a:prstGeom>
        </p:spPr>
      </p:pic>
      <p:pic>
        <p:nvPicPr>
          <p:cNvPr id="8" name="Picture 7">
            <a:extLst>
              <a:ext uri="{FF2B5EF4-FFF2-40B4-BE49-F238E27FC236}">
                <a16:creationId xmlns:a16="http://schemas.microsoft.com/office/drawing/2014/main" id="{A2A7A8AF-8D58-218F-3FC0-0D90DBAC53F7}"/>
              </a:ext>
            </a:extLst>
          </p:cNvPr>
          <p:cNvPicPr>
            <a:picLocks noChangeAspect="1"/>
          </p:cNvPicPr>
          <p:nvPr/>
        </p:nvPicPr>
        <p:blipFill>
          <a:blip r:embed="rId4"/>
          <a:stretch>
            <a:fillRect/>
          </a:stretch>
        </p:blipFill>
        <p:spPr>
          <a:xfrm>
            <a:off x="9122021" y="2525462"/>
            <a:ext cx="419100" cy="444500"/>
          </a:xfrm>
          <a:prstGeom prst="rect">
            <a:avLst/>
          </a:prstGeom>
        </p:spPr>
      </p:pic>
      <p:sp>
        <p:nvSpPr>
          <p:cNvPr id="4" name="Rectangle 3">
            <a:extLst>
              <a:ext uri="{FF2B5EF4-FFF2-40B4-BE49-F238E27FC236}">
                <a16:creationId xmlns:a16="http://schemas.microsoft.com/office/drawing/2014/main" id="{2E909D42-AB0E-AFBD-A5E4-26D9B98DCDAF}"/>
              </a:ext>
            </a:extLst>
          </p:cNvPr>
          <p:cNvSpPr/>
          <p:nvPr/>
        </p:nvSpPr>
        <p:spPr>
          <a:xfrm>
            <a:off x="1081871" y="3637474"/>
            <a:ext cx="10028255" cy="2743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Arial" panose="020B0604020202020204" pitchFamily="34" charset="0"/>
                <a:cs typeface="Arial" panose="020B0604020202020204" pitchFamily="34" charset="0"/>
              </a:rPr>
              <a:t>If this is your first time doing it, this process will take a few minutes. Also, stay near your computer as Google </a:t>
            </a:r>
            <a:r>
              <a:rPr lang="en-US" sz="3600" dirty="0" err="1">
                <a:latin typeface="Arial" panose="020B0604020202020204" pitchFamily="34" charset="0"/>
                <a:cs typeface="Arial" panose="020B0604020202020204" pitchFamily="34" charset="0"/>
              </a:rPr>
              <a:t>Colab</a:t>
            </a:r>
            <a:r>
              <a:rPr lang="en-US" sz="3600" dirty="0">
                <a:latin typeface="Arial" panose="020B0604020202020204" pitchFamily="34" charset="0"/>
                <a:cs typeface="Arial" panose="020B0604020202020204" pitchFamily="34" charset="0"/>
              </a:rPr>
              <a:t> will ask for permission to write/read your Google Drive. </a:t>
            </a:r>
          </a:p>
        </p:txBody>
      </p:sp>
    </p:spTree>
    <p:extLst>
      <p:ext uri="{BB962C8B-B14F-4D97-AF65-F5344CB8AC3E}">
        <p14:creationId xmlns:p14="http://schemas.microsoft.com/office/powerpoint/2010/main" val="1927086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Step 6: Save your own copy and work on it</a:t>
            </a:r>
            <a:endParaRPr lang="en-US" sz="3300" dirty="0"/>
          </a:p>
        </p:txBody>
      </p:sp>
      <p:sp>
        <p:nvSpPr>
          <p:cNvPr id="3" name="Text 1"/>
          <p:cNvSpPr/>
          <p:nvPr/>
        </p:nvSpPr>
        <p:spPr>
          <a:xfrm>
            <a:off x="566928" y="1600200"/>
            <a:ext cx="6636287"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Click  </a:t>
            </a:r>
          </a:p>
          <a:p>
            <a:pPr>
              <a:spcAft>
                <a:spcPts val="1000"/>
              </a:spcAft>
              <a:buSzPct val="100000"/>
            </a:pPr>
            <a:r>
              <a:rPr lang="en-US" sz="2800" dirty="0">
                <a:solidFill>
                  <a:srgbClr val="1F2937"/>
                </a:solidFill>
                <a:latin typeface="Arial" pitchFamily="34" charset="0"/>
                <a:ea typeface="Arial" pitchFamily="34" charset="-122"/>
                <a:cs typeface="Arial" pitchFamily="34" charset="-120"/>
              </a:rPr>
              <a:t>File  -&gt;  Save a copy in Drive.</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A copy of the notebook is saved to  </a:t>
            </a:r>
          </a:p>
          <a:p>
            <a:pPr>
              <a:spcAft>
                <a:spcPts val="1000"/>
              </a:spcAft>
              <a:buSzPct val="100000"/>
            </a:pPr>
            <a:r>
              <a:rPr lang="en-US" sz="2800" dirty="0">
                <a:solidFill>
                  <a:srgbClr val="1F2937"/>
                </a:solidFill>
                <a:latin typeface="Arial" pitchFamily="34" charset="0"/>
                <a:ea typeface="Arial" pitchFamily="34" charset="-122"/>
                <a:cs typeface="Arial" pitchFamily="34" charset="-120"/>
              </a:rPr>
              <a:t>Google Drive -&gt; "Colab Notebooks".</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Do all of your work in that copy.</a:t>
            </a:r>
            <a:endParaRPr lang="en-US" sz="2800" dirty="0"/>
          </a:p>
        </p:txBody>
      </p:sp>
      <p:sp>
        <p:nvSpPr>
          <p:cNvPr id="5" name="Shape 2"/>
          <p:cNvSpPr/>
          <p:nvPr/>
        </p:nvSpPr>
        <p:spPr>
          <a:xfrm>
            <a:off x="566926" y="4892040"/>
            <a:ext cx="6497063" cy="1828800"/>
          </a:xfrm>
          <a:prstGeom prst="roundRect">
            <a:avLst>
              <a:gd name="adj" fmla="val 4000"/>
            </a:avLst>
          </a:prstGeom>
          <a:solidFill>
            <a:srgbClr val="FDECEA"/>
          </a:solidFill>
          <a:ln w="15875">
            <a:solidFill>
              <a:srgbClr val="E57373"/>
            </a:solidFill>
            <a:prstDash val="solid"/>
          </a:ln>
        </p:spPr>
        <p:txBody>
          <a:bodyPr/>
          <a:lstStyle/>
          <a:p>
            <a:endParaRPr lang="en-US"/>
          </a:p>
        </p:txBody>
      </p:sp>
      <p:sp>
        <p:nvSpPr>
          <p:cNvPr id="6" name="Text 3"/>
          <p:cNvSpPr/>
          <p:nvPr/>
        </p:nvSpPr>
        <p:spPr>
          <a:xfrm>
            <a:off x="777238" y="4983480"/>
            <a:ext cx="6065687" cy="1645920"/>
          </a:xfrm>
          <a:prstGeom prst="rect">
            <a:avLst/>
          </a:prstGeom>
          <a:noFill/>
          <a:ln/>
        </p:spPr>
        <p:txBody>
          <a:bodyPr wrap="square" rtlCol="0" anchor="ctr"/>
          <a:lstStyle/>
          <a:p>
            <a:pPr marL="0" indent="0">
              <a:buNone/>
            </a:pPr>
            <a:r>
              <a:rPr lang="en-US" b="1" dirty="0">
                <a:solidFill>
                  <a:srgbClr val="8A1C13"/>
                </a:solidFill>
                <a:latin typeface="Arial" pitchFamily="34" charset="0"/>
                <a:ea typeface="Arial" pitchFamily="34" charset="-122"/>
                <a:cs typeface="Arial" pitchFamily="34" charset="-120"/>
              </a:rPr>
              <a:t>Important:  </a:t>
            </a:r>
            <a:r>
              <a:rPr lang="en-US" dirty="0">
                <a:solidFill>
                  <a:srgbClr val="8A1C13"/>
                </a:solidFill>
                <a:latin typeface="Arial" pitchFamily="34" charset="0"/>
                <a:ea typeface="Arial" pitchFamily="34" charset="-122"/>
                <a:cs typeface="Arial" pitchFamily="34" charset="-120"/>
              </a:rPr>
              <a:t>never edit or save your work inside the AIforMovementScience folder. The setup cell (step 5) replaces that folder with the latest version each session, so anything saved there would be lost. </a:t>
            </a:r>
          </a:p>
          <a:p>
            <a:pPr marL="0" indent="0">
              <a:buNone/>
            </a:pPr>
            <a:r>
              <a:rPr lang="en-US" u="sng" dirty="0">
                <a:solidFill>
                  <a:srgbClr val="8A1C13"/>
                </a:solidFill>
                <a:latin typeface="Arial" pitchFamily="34" charset="0"/>
                <a:ea typeface="Arial" pitchFamily="34" charset="-122"/>
                <a:cs typeface="Arial" pitchFamily="34" charset="-120"/>
              </a:rPr>
              <a:t>Always work on your saved copy.</a:t>
            </a:r>
            <a:endParaRPr lang="en-US" u="sng" dirty="0"/>
          </a:p>
        </p:txBody>
      </p:sp>
      <p:sp>
        <p:nvSpPr>
          <p:cNvPr id="7" name="Text 4"/>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8</a:t>
            </a:r>
            <a:endParaRPr lang="en-US" sz="1000" dirty="0"/>
          </a:p>
        </p:txBody>
      </p:sp>
      <p:pic>
        <p:nvPicPr>
          <p:cNvPr id="8" name="Picture 7">
            <a:extLst>
              <a:ext uri="{FF2B5EF4-FFF2-40B4-BE49-F238E27FC236}">
                <a16:creationId xmlns:a16="http://schemas.microsoft.com/office/drawing/2014/main" id="{8ED14633-CEC0-F7B9-9857-8E527117A524}"/>
              </a:ext>
            </a:extLst>
          </p:cNvPr>
          <p:cNvPicPr>
            <a:picLocks noChangeAspect="1"/>
          </p:cNvPicPr>
          <p:nvPr/>
        </p:nvPicPr>
        <p:blipFill>
          <a:blip r:embed="rId3"/>
          <a:srcRect r="21148"/>
          <a:stretch/>
        </p:blipFill>
        <p:spPr>
          <a:xfrm>
            <a:off x="7203215" y="1143000"/>
            <a:ext cx="4849783" cy="50016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How Colab sessions work</a:t>
            </a:r>
            <a:endParaRPr lang="en-US" sz="3300" dirty="0"/>
          </a:p>
        </p:txBody>
      </p:sp>
      <p:sp>
        <p:nvSpPr>
          <p:cNvPr id="3" name="Text 1"/>
          <p:cNvSpPr/>
          <p:nvPr/>
        </p:nvSpPr>
        <p:spPr>
          <a:xfrm>
            <a:off x="548640" y="1542925"/>
            <a:ext cx="7029626" cy="4206240"/>
          </a:xfrm>
          <a:prstGeom prst="rect">
            <a:avLst/>
          </a:prstGeom>
          <a:noFill/>
          <a:ln/>
        </p:spPr>
        <p:txBody>
          <a:bodyPr wrap="square" rtlCol="0" anchor="t"/>
          <a:lstStyle/>
          <a:p>
            <a:pPr marL="228600" indent="-228600">
              <a:spcAft>
                <a:spcPts val="1000"/>
              </a:spcAft>
              <a:buSzPct val="100000"/>
              <a:buChar char="•"/>
            </a:pPr>
            <a:r>
              <a:rPr lang="en-US" sz="2800" dirty="0" err="1">
                <a:solidFill>
                  <a:srgbClr val="1F2937"/>
                </a:solidFill>
                <a:latin typeface="Arial" pitchFamily="34" charset="0"/>
                <a:ea typeface="Arial" pitchFamily="34" charset="-122"/>
                <a:cs typeface="Arial" pitchFamily="34" charset="-120"/>
              </a:rPr>
              <a:t>Colab</a:t>
            </a:r>
            <a:r>
              <a:rPr lang="en-US" sz="2800" dirty="0">
                <a:solidFill>
                  <a:srgbClr val="1F2937"/>
                </a:solidFill>
                <a:latin typeface="Arial" pitchFamily="34" charset="0"/>
                <a:ea typeface="Arial" pitchFamily="34" charset="-122"/>
                <a:cs typeface="Arial" pitchFamily="34" charset="-120"/>
              </a:rPr>
              <a:t> gives you a temporary computer for each session. After a few minutes of inactivity, the session is timed-out and removed from the computer. </a:t>
            </a:r>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Once the session is timed-out, you need to re-start the session and re-run all the Notebooks cells. </a:t>
            </a:r>
          </a:p>
          <a:p>
            <a:pPr marL="228600" indent="-228600">
              <a:spcAft>
                <a:spcPts val="1000"/>
              </a:spcAft>
              <a:buSzPct val="100000"/>
              <a:buChar char="•"/>
            </a:pPr>
            <a:r>
              <a:rPr lang="en-US" sz="2800" dirty="0" err="1">
                <a:solidFill>
                  <a:srgbClr val="1F2937"/>
                </a:solidFill>
                <a:latin typeface="Arial" pitchFamily="34" charset="0"/>
                <a:ea typeface="Arial" pitchFamily="34" charset="-122"/>
                <a:cs typeface="Arial" pitchFamily="34" charset="-120"/>
              </a:rPr>
              <a:t>Colab</a:t>
            </a:r>
            <a:r>
              <a:rPr lang="en-US" sz="2800" dirty="0">
                <a:solidFill>
                  <a:srgbClr val="1F2937"/>
                </a:solidFill>
                <a:latin typeface="Arial" pitchFamily="34" charset="0"/>
                <a:ea typeface="Arial" pitchFamily="34" charset="-122"/>
                <a:cs typeface="Arial" pitchFamily="34" charset="-120"/>
              </a:rPr>
              <a:t> will save your work automatically, you can also save it yourself </a:t>
            </a:r>
          </a:p>
          <a:p>
            <a:pPr>
              <a:spcAft>
                <a:spcPts val="1000"/>
              </a:spcAft>
              <a:buSzPct val="100000"/>
            </a:pPr>
            <a:r>
              <a:rPr lang="en-US" sz="2800" dirty="0">
                <a:solidFill>
                  <a:srgbClr val="1F2937"/>
                </a:solidFill>
                <a:latin typeface="Arial" pitchFamily="34" charset="0"/>
                <a:ea typeface="Arial" pitchFamily="34" charset="-122"/>
                <a:cs typeface="Arial" pitchFamily="34" charset="-120"/>
              </a:rPr>
              <a:t>  File -&gt; Save</a:t>
            </a:r>
          </a:p>
          <a:p>
            <a:pPr marL="228600" indent="-228600">
              <a:spcAft>
                <a:spcPts val="1000"/>
              </a:spcAft>
              <a:buSzPct val="100000"/>
              <a:buChar char="•"/>
            </a:pPr>
            <a:endParaRPr lang="en-US" sz="2800" dirty="0">
              <a:solidFill>
                <a:srgbClr val="1F2937"/>
              </a:solidFill>
              <a:latin typeface="Arial" pitchFamily="34" charset="0"/>
              <a:ea typeface="Arial" pitchFamily="34" charset="-122"/>
              <a:cs typeface="Arial" pitchFamily="34" charset="-120"/>
            </a:endParaRPr>
          </a:p>
          <a:p>
            <a:pPr>
              <a:spcAft>
                <a:spcPts val="1000"/>
              </a:spcAft>
              <a:buSzPct val="100000"/>
            </a:pPr>
            <a:endParaRPr lang="en-US" sz="2800" dirty="0"/>
          </a:p>
        </p:txBody>
      </p:sp>
      <p:sp>
        <p:nvSpPr>
          <p:cNvPr id="4"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9</a:t>
            </a:r>
            <a:endParaRPr lang="en-US" sz="1000" dirty="0"/>
          </a:p>
        </p:txBody>
      </p:sp>
      <p:pic>
        <p:nvPicPr>
          <p:cNvPr id="5" name="Picture 4">
            <a:extLst>
              <a:ext uri="{FF2B5EF4-FFF2-40B4-BE49-F238E27FC236}">
                <a16:creationId xmlns:a16="http://schemas.microsoft.com/office/drawing/2014/main" id="{E4430F98-138E-F480-8255-778C362ABC82}"/>
              </a:ext>
            </a:extLst>
          </p:cNvPr>
          <p:cNvPicPr>
            <a:picLocks noChangeAspect="1"/>
          </p:cNvPicPr>
          <p:nvPr/>
        </p:nvPicPr>
        <p:blipFill>
          <a:blip r:embed="rId3"/>
          <a:srcRect r="19881"/>
          <a:stretch/>
        </p:blipFill>
        <p:spPr>
          <a:xfrm>
            <a:off x="7749891" y="1737052"/>
            <a:ext cx="4442109" cy="47094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Turn on a GPU</a:t>
            </a:r>
            <a:endParaRPr lang="en-US" sz="3300" dirty="0"/>
          </a:p>
        </p:txBody>
      </p:sp>
      <p:sp>
        <p:nvSpPr>
          <p:cNvPr id="3" name="Text 1"/>
          <p:cNvSpPr/>
          <p:nvPr/>
        </p:nvSpPr>
        <p:spPr>
          <a:xfrm>
            <a:off x="566927" y="1874520"/>
            <a:ext cx="7110013"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The neural-network, deep-learning, and computer-vision weeks run much faster with a GPU.</a:t>
            </a:r>
          </a:p>
          <a:p>
            <a:pPr marL="228600" indent="-228600">
              <a:spcAft>
                <a:spcPts val="1000"/>
              </a:spcAft>
              <a:buSzPct val="100000"/>
              <a:buChar char="•"/>
            </a:pPr>
            <a:r>
              <a:rPr lang="en-US" sz="2800" dirty="0" err="1">
                <a:solidFill>
                  <a:srgbClr val="1F2937"/>
                </a:solidFill>
                <a:latin typeface="Arial" pitchFamily="34" charset="0"/>
                <a:cs typeface="Arial" pitchFamily="34" charset="-120"/>
              </a:rPr>
              <a:t>Colab</a:t>
            </a:r>
            <a:r>
              <a:rPr lang="en-US" sz="2800" dirty="0">
                <a:solidFill>
                  <a:srgbClr val="1F2937"/>
                </a:solidFill>
                <a:latin typeface="Arial" pitchFamily="34" charset="0"/>
                <a:cs typeface="Arial" pitchFamily="34" charset="-120"/>
              </a:rPr>
              <a:t> allows you to access a GPU for free</a:t>
            </a:r>
            <a:endParaRPr lang="en-US" sz="2800" dirty="0"/>
          </a:p>
          <a:p>
            <a:pPr>
              <a:spcAft>
                <a:spcPts val="1000"/>
              </a:spcAft>
              <a:buSzPct val="100000"/>
            </a:pPr>
            <a:r>
              <a:rPr lang="en-US" sz="2800" dirty="0">
                <a:solidFill>
                  <a:srgbClr val="1F2937"/>
                </a:solidFill>
                <a:latin typeface="Arial" pitchFamily="34" charset="0"/>
                <a:ea typeface="Arial" pitchFamily="34" charset="-122"/>
                <a:cs typeface="Arial" pitchFamily="34" charset="-120"/>
              </a:rPr>
              <a:t>Runtime -&gt; Change runtime type -&gt; T4GPU -&gt; Save.</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Free GPU time is limited. If none is available, you can always use HiPerGator.</a:t>
            </a:r>
            <a:endParaRPr lang="en-US" sz="2800" dirty="0"/>
          </a:p>
        </p:txBody>
      </p:sp>
      <p:sp>
        <p:nvSpPr>
          <p:cNvPr id="5"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10</a:t>
            </a:r>
            <a:endParaRPr lang="en-US" sz="1000" dirty="0"/>
          </a:p>
        </p:txBody>
      </p:sp>
      <p:pic>
        <p:nvPicPr>
          <p:cNvPr id="6" name="Picture 5">
            <a:extLst>
              <a:ext uri="{FF2B5EF4-FFF2-40B4-BE49-F238E27FC236}">
                <a16:creationId xmlns:a16="http://schemas.microsoft.com/office/drawing/2014/main" id="{51FE87DA-DB79-03C3-1EED-E85A2EBF93DD}"/>
              </a:ext>
            </a:extLst>
          </p:cNvPr>
          <p:cNvPicPr>
            <a:picLocks noChangeAspect="1"/>
          </p:cNvPicPr>
          <p:nvPr/>
        </p:nvPicPr>
        <p:blipFill>
          <a:blip r:embed="rId3"/>
          <a:stretch>
            <a:fillRect/>
          </a:stretch>
        </p:blipFill>
        <p:spPr>
          <a:xfrm>
            <a:off x="7759174" y="1346480"/>
            <a:ext cx="4626416" cy="45770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Install extra packages (when a notebook asks)</a:t>
            </a:r>
            <a:endParaRPr lang="en-US" sz="3300" dirty="0"/>
          </a:p>
        </p:txBody>
      </p:sp>
      <p:sp>
        <p:nvSpPr>
          <p:cNvPr id="3" name="Text 1"/>
          <p:cNvSpPr/>
          <p:nvPr/>
        </p:nvSpPr>
        <p:spPr>
          <a:xfrm>
            <a:off x="566928" y="1874520"/>
            <a:ext cx="10972800"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Colab already includes NumPy, pandas, Matplotlib, scikit-learn, and PyTorch.</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Some later notebooks need extra libraries. Install it at the top of the session, for example:</a:t>
            </a:r>
            <a:endParaRPr lang="en-US" sz="2800" dirty="0"/>
          </a:p>
        </p:txBody>
      </p:sp>
      <p:sp>
        <p:nvSpPr>
          <p:cNvPr id="4" name="Shape 2"/>
          <p:cNvSpPr/>
          <p:nvPr/>
        </p:nvSpPr>
        <p:spPr>
          <a:xfrm>
            <a:off x="566928" y="3931920"/>
            <a:ext cx="10241280" cy="777240"/>
          </a:xfrm>
          <a:prstGeom prst="roundRect">
            <a:avLst>
              <a:gd name="adj" fmla="val 7059"/>
            </a:avLst>
          </a:prstGeom>
          <a:solidFill>
            <a:srgbClr val="F3F4F6"/>
          </a:solidFill>
          <a:ln w="12700">
            <a:solidFill>
              <a:srgbClr val="D1D5DB"/>
            </a:solidFill>
            <a:prstDash val="solid"/>
          </a:ln>
        </p:spPr>
        <p:txBody>
          <a:bodyPr/>
          <a:lstStyle/>
          <a:p>
            <a:endParaRPr lang="en-US"/>
          </a:p>
        </p:txBody>
      </p:sp>
      <p:sp>
        <p:nvSpPr>
          <p:cNvPr id="5" name="Text 3"/>
          <p:cNvSpPr/>
          <p:nvPr/>
        </p:nvSpPr>
        <p:spPr>
          <a:xfrm>
            <a:off x="841248" y="3920490"/>
            <a:ext cx="9692640" cy="777240"/>
          </a:xfrm>
          <a:prstGeom prst="rect">
            <a:avLst/>
          </a:prstGeom>
          <a:noFill/>
          <a:ln/>
        </p:spPr>
        <p:txBody>
          <a:bodyPr wrap="square" rtlCol="0" anchor="ctr"/>
          <a:lstStyle/>
          <a:p>
            <a:pPr marL="0" indent="0">
              <a:buNone/>
            </a:pPr>
            <a:r>
              <a:rPr lang="en-US" sz="1600" dirty="0">
                <a:solidFill>
                  <a:srgbClr val="111827"/>
                </a:solidFill>
                <a:latin typeface="Courier New" pitchFamily="34" charset="0"/>
                <a:ea typeface="Courier New" pitchFamily="34" charset="-122"/>
                <a:cs typeface="Courier New" pitchFamily="34" charset="-120"/>
              </a:rPr>
              <a:t>!pip install ultralytics</a:t>
            </a:r>
            <a:endParaRPr lang="en-US" sz="1600" dirty="0"/>
          </a:p>
        </p:txBody>
      </p:sp>
      <p:sp>
        <p:nvSpPr>
          <p:cNvPr id="6" name="Text 4"/>
          <p:cNvSpPr/>
          <p:nvPr/>
        </p:nvSpPr>
        <p:spPr>
          <a:xfrm>
            <a:off x="656492" y="5440680"/>
            <a:ext cx="10972800" cy="457200"/>
          </a:xfrm>
          <a:prstGeom prst="rect">
            <a:avLst/>
          </a:prstGeom>
          <a:noFill/>
          <a:ln/>
        </p:spPr>
        <p:txBody>
          <a:bodyPr wrap="square" rtlCol="0" anchor="ctr"/>
          <a:lstStyle/>
          <a:p>
            <a:pPr marL="0" indent="0">
              <a:buNone/>
            </a:pPr>
            <a:r>
              <a:rPr lang="en-US" sz="2800" dirty="0">
                <a:solidFill>
                  <a:srgbClr val="1F2937"/>
                </a:solidFill>
                <a:latin typeface="Arial" pitchFamily="34" charset="0"/>
                <a:ea typeface="Arial" pitchFamily="34" charset="-122"/>
                <a:cs typeface="Arial" pitchFamily="34" charset="-120"/>
              </a:rPr>
              <a:t>You need to re-run these installs each session, just like the setup cell, as they are not stored. </a:t>
            </a:r>
            <a:endParaRPr lang="en-US" sz="2800" dirty="0"/>
          </a:p>
        </p:txBody>
      </p:sp>
      <p:sp>
        <p:nvSpPr>
          <p:cNvPr id="7" name="Text 5"/>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Submitting your assignments</a:t>
            </a:r>
            <a:endParaRPr lang="en-US" sz="3300" dirty="0"/>
          </a:p>
        </p:txBody>
      </p:sp>
      <p:sp>
        <p:nvSpPr>
          <p:cNvPr id="3" name="Text 1"/>
          <p:cNvSpPr/>
          <p:nvPr/>
        </p:nvSpPr>
        <p:spPr>
          <a:xfrm>
            <a:off x="566928" y="1874520"/>
            <a:ext cx="7019577"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Work in your copy of the notebook.</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Download the notebook so it can be shared</a:t>
            </a:r>
          </a:p>
          <a:p>
            <a:pPr>
              <a:spcAft>
                <a:spcPts val="1000"/>
              </a:spcAft>
              <a:buSzPct val="100000"/>
            </a:pPr>
            <a:r>
              <a:rPr lang="en-US" sz="2800" dirty="0">
                <a:solidFill>
                  <a:srgbClr val="1F2937"/>
                </a:solidFill>
                <a:latin typeface="Arial" pitchFamily="34" charset="0"/>
                <a:ea typeface="Arial" pitchFamily="34" charset="-122"/>
                <a:cs typeface="Arial" pitchFamily="34" charset="-120"/>
              </a:rPr>
              <a:t>File  -&gt;  Download  -&gt;  Download .ipynb.</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Change the file name to: YourName_Assignment_#.</a:t>
            </a:r>
            <a:r>
              <a:rPr lang="en-US" sz="2800" dirty="0" err="1">
                <a:solidFill>
                  <a:srgbClr val="1F2937"/>
                </a:solidFill>
                <a:latin typeface="Arial" pitchFamily="34" charset="0"/>
                <a:ea typeface="Arial" pitchFamily="34" charset="-122"/>
                <a:cs typeface="Arial" pitchFamily="34" charset="-120"/>
              </a:rPr>
              <a:t>ipynb</a:t>
            </a:r>
            <a:endParaRPr lang="en-US" sz="2800" dirty="0">
              <a:solidFill>
                <a:srgbClr val="1F2937"/>
              </a:solidFill>
              <a:latin typeface="Arial" pitchFamily="34" charset="0"/>
              <a:ea typeface="Arial" pitchFamily="34" charset="-122"/>
              <a:cs typeface="Arial" pitchFamily="34" charset="-120"/>
            </a:endParaRPr>
          </a:p>
          <a:p>
            <a:pPr>
              <a:spcAft>
                <a:spcPts val="1000"/>
              </a:spcAft>
              <a:buSzPct val="100000"/>
            </a:pPr>
            <a:r>
              <a:rPr lang="en-US" sz="2800" dirty="0">
                <a:solidFill>
                  <a:srgbClr val="1F2937"/>
                </a:solidFill>
                <a:latin typeface="Arial" pitchFamily="34" charset="0"/>
                <a:cs typeface="Arial" pitchFamily="34" charset="-120"/>
              </a:rPr>
              <a:t>   and submitted it via Canvas</a:t>
            </a:r>
            <a:endParaRPr lang="en-US" sz="2800" dirty="0"/>
          </a:p>
        </p:txBody>
      </p:sp>
      <p:sp>
        <p:nvSpPr>
          <p:cNvPr id="4"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12</a:t>
            </a:r>
            <a:endParaRPr lang="en-US" sz="1000" dirty="0"/>
          </a:p>
        </p:txBody>
      </p:sp>
      <p:pic>
        <p:nvPicPr>
          <p:cNvPr id="5" name="Picture 4">
            <a:extLst>
              <a:ext uri="{FF2B5EF4-FFF2-40B4-BE49-F238E27FC236}">
                <a16:creationId xmlns:a16="http://schemas.microsoft.com/office/drawing/2014/main" id="{FA3C102D-16AC-5BEB-7555-454F28600BFC}"/>
              </a:ext>
            </a:extLst>
          </p:cNvPr>
          <p:cNvPicPr>
            <a:picLocks noChangeAspect="1"/>
          </p:cNvPicPr>
          <p:nvPr/>
        </p:nvPicPr>
        <p:blipFill>
          <a:blip r:embed="rId3"/>
          <a:srcRect r="20222"/>
          <a:stretch/>
        </p:blipFill>
        <p:spPr>
          <a:xfrm>
            <a:off x="7468471" y="951076"/>
            <a:ext cx="4639791" cy="51296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Returning to work</a:t>
            </a:r>
            <a:endParaRPr lang="en-US" sz="3300" dirty="0"/>
          </a:p>
        </p:txBody>
      </p:sp>
      <p:sp>
        <p:nvSpPr>
          <p:cNvPr id="4" name="Text 2"/>
          <p:cNvSpPr/>
          <p:nvPr/>
        </p:nvSpPr>
        <p:spPr>
          <a:xfrm>
            <a:off x="640080" y="196596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640080" y="3154680"/>
            <a:ext cx="640080" cy="64008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2" name="Text 10"/>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13</a:t>
            </a:r>
            <a:endParaRPr lang="en-US" sz="1000" dirty="0"/>
          </a:p>
        </p:txBody>
      </p:sp>
      <p:sp>
        <p:nvSpPr>
          <p:cNvPr id="13" name="Text 1">
            <a:extLst>
              <a:ext uri="{FF2B5EF4-FFF2-40B4-BE49-F238E27FC236}">
                <a16:creationId xmlns:a16="http://schemas.microsoft.com/office/drawing/2014/main" id="{0E87C86D-50CC-AF09-A9CF-5B351313C254}"/>
              </a:ext>
            </a:extLst>
          </p:cNvPr>
          <p:cNvSpPr/>
          <p:nvPr/>
        </p:nvSpPr>
        <p:spPr>
          <a:xfrm>
            <a:off x="548640" y="1691640"/>
            <a:ext cx="11139402"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After the initial set-up, the full repository now lives in your Google Drive. To access the other lectures, you can find them in</a:t>
            </a:r>
          </a:p>
          <a:p>
            <a:pPr>
              <a:spcAft>
                <a:spcPts val="1000"/>
              </a:spcAft>
              <a:buSzPct val="100000"/>
            </a:pPr>
            <a:r>
              <a:rPr lang="en-US" sz="2800" dirty="0">
                <a:solidFill>
                  <a:srgbClr val="1F2937"/>
                </a:solidFill>
                <a:latin typeface="Arial" pitchFamily="34" charset="0"/>
                <a:cs typeface="Arial" pitchFamily="34" charset="-120"/>
              </a:rPr>
              <a:t>Drive -&gt; </a:t>
            </a:r>
            <a:r>
              <a:rPr lang="en-US" sz="2800" dirty="0" err="1">
                <a:solidFill>
                  <a:srgbClr val="1F2937"/>
                </a:solidFill>
                <a:latin typeface="Arial" pitchFamily="34" charset="0"/>
                <a:cs typeface="Arial" pitchFamily="34" charset="-120"/>
              </a:rPr>
              <a:t>MyDrive</a:t>
            </a:r>
            <a:r>
              <a:rPr lang="en-US" sz="2800" dirty="0">
                <a:solidFill>
                  <a:srgbClr val="1F2937"/>
                </a:solidFill>
                <a:latin typeface="Arial" pitchFamily="34" charset="0"/>
                <a:cs typeface="Arial" pitchFamily="34" charset="-120"/>
              </a:rPr>
              <a:t> -&gt; </a:t>
            </a:r>
            <a:r>
              <a:rPr lang="en-US" sz="2800" dirty="0" err="1">
                <a:solidFill>
                  <a:srgbClr val="1F2937"/>
                </a:solidFill>
                <a:latin typeface="Arial" pitchFamily="34" charset="0"/>
                <a:cs typeface="Arial" pitchFamily="34" charset="-120"/>
              </a:rPr>
              <a:t>AIforMovementScience</a:t>
            </a:r>
            <a:r>
              <a:rPr lang="en-US" sz="2800" dirty="0">
                <a:solidFill>
                  <a:srgbClr val="1F2937"/>
                </a:solidFill>
                <a:latin typeface="Arial" pitchFamily="34" charset="0"/>
                <a:cs typeface="Arial" pitchFamily="34" charset="-120"/>
              </a:rPr>
              <a:t> -&gt; lectures </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You can also access the assignments at</a:t>
            </a:r>
          </a:p>
          <a:p>
            <a:pPr>
              <a:spcAft>
                <a:spcPts val="1000"/>
              </a:spcAft>
              <a:buSzPct val="100000"/>
            </a:pPr>
            <a:r>
              <a:rPr lang="en-US" sz="2800" dirty="0">
                <a:solidFill>
                  <a:srgbClr val="1F2937"/>
                </a:solidFill>
                <a:latin typeface="Arial" pitchFamily="34" charset="0"/>
                <a:cs typeface="Arial" pitchFamily="34" charset="-120"/>
              </a:rPr>
              <a:t>Drive -&gt; </a:t>
            </a:r>
            <a:r>
              <a:rPr lang="en-US" sz="2800" dirty="0" err="1">
                <a:solidFill>
                  <a:srgbClr val="1F2937"/>
                </a:solidFill>
                <a:latin typeface="Arial" pitchFamily="34" charset="0"/>
                <a:cs typeface="Arial" pitchFamily="34" charset="-120"/>
              </a:rPr>
              <a:t>MyDrive</a:t>
            </a:r>
            <a:r>
              <a:rPr lang="en-US" sz="2800" dirty="0">
                <a:solidFill>
                  <a:srgbClr val="1F2937"/>
                </a:solidFill>
                <a:latin typeface="Arial" pitchFamily="34" charset="0"/>
                <a:cs typeface="Arial" pitchFamily="34" charset="-120"/>
              </a:rPr>
              <a:t> -&gt; </a:t>
            </a:r>
            <a:r>
              <a:rPr lang="en-US" sz="2800" dirty="0" err="1">
                <a:solidFill>
                  <a:srgbClr val="1F2937"/>
                </a:solidFill>
                <a:latin typeface="Arial" pitchFamily="34" charset="0"/>
                <a:cs typeface="Arial" pitchFamily="34" charset="-120"/>
              </a:rPr>
              <a:t>AIforMovementScience</a:t>
            </a:r>
            <a:r>
              <a:rPr lang="en-US" sz="2800" dirty="0">
                <a:solidFill>
                  <a:srgbClr val="1F2937"/>
                </a:solidFill>
                <a:latin typeface="Arial" pitchFamily="34" charset="0"/>
                <a:cs typeface="Arial" pitchFamily="34" charset="-120"/>
              </a:rPr>
              <a:t> -&gt; Assignments</a:t>
            </a:r>
          </a:p>
          <a:p>
            <a:pPr>
              <a:spcAft>
                <a:spcPts val="1000"/>
              </a:spcAft>
              <a:buSzPct val="100000"/>
            </a:pPr>
            <a:endParaRPr lang="en-US" sz="2800" dirty="0">
              <a:solidFill>
                <a:srgbClr val="1F2937"/>
              </a:solidFill>
              <a:latin typeface="Arial" pitchFamily="34" charset="0"/>
              <a:cs typeface="Arial" pitchFamily="34" charset="-120"/>
            </a:endParaRPr>
          </a:p>
        </p:txBody>
      </p:sp>
      <p:sp>
        <p:nvSpPr>
          <p:cNvPr id="15" name="TextBox 14">
            <a:extLst>
              <a:ext uri="{FF2B5EF4-FFF2-40B4-BE49-F238E27FC236}">
                <a16:creationId xmlns:a16="http://schemas.microsoft.com/office/drawing/2014/main" id="{1FD51212-06B8-C522-D61C-8651A16B93F4}"/>
              </a:ext>
            </a:extLst>
          </p:cNvPr>
          <p:cNvSpPr txBox="1"/>
          <p:nvPr/>
        </p:nvSpPr>
        <p:spPr>
          <a:xfrm>
            <a:off x="1484895" y="5027582"/>
            <a:ext cx="9191730" cy="1323439"/>
          </a:xfrm>
          <a:prstGeom prst="rect">
            <a:avLst/>
          </a:prstGeom>
          <a:solidFill>
            <a:schemeClr val="accent1"/>
          </a:solidFill>
        </p:spPr>
        <p:txBody>
          <a:bodyPr wrap="square">
            <a:spAutoFit/>
          </a:bodyPr>
          <a:lstStyle/>
          <a:p>
            <a:pPr algn="ctr">
              <a:spcAft>
                <a:spcPts val="1000"/>
              </a:spcAft>
              <a:buSzPct val="100000"/>
            </a:pPr>
            <a:r>
              <a:rPr lang="en-US" sz="4000" dirty="0">
                <a:solidFill>
                  <a:schemeClr val="bg1"/>
                </a:solidFill>
                <a:latin typeface="Arial" pitchFamily="34" charset="0"/>
                <a:cs typeface="Arial" pitchFamily="34" charset="-120"/>
              </a:rPr>
              <a:t>Remember to save a copy of the file before making any changes.</a:t>
            </a:r>
            <a:endParaRPr lang="en-US" sz="40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Troubleshooting</a:t>
            </a:r>
            <a:endParaRPr lang="en-US" sz="3300" dirty="0"/>
          </a:p>
        </p:txBody>
      </p:sp>
      <p:sp>
        <p:nvSpPr>
          <p:cNvPr id="3" name="Text 1"/>
          <p:cNvSpPr/>
          <p:nvPr/>
        </p:nvSpPr>
        <p:spPr>
          <a:xfrm>
            <a:off x="566928" y="1874520"/>
            <a:ext cx="10972800"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"FileNotFoundError" or "No such file: data/..."? You skipped the set-up cell. Run it and try again.</a:t>
            </a:r>
          </a:p>
          <a:p>
            <a:pPr>
              <a:spcAft>
                <a:spcPts val="1000"/>
              </a:spcAft>
              <a:buSzPct val="100000"/>
            </a:pP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"ModuleNotFoundError"? Re-run the pip install for that library.</a:t>
            </a:r>
          </a:p>
          <a:p>
            <a:pPr>
              <a:spcAft>
                <a:spcPts val="1000"/>
              </a:spcAft>
              <a:buSzPct val="100000"/>
            </a:pP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No GPU available? Use CPU for now, try again later, or switch to </a:t>
            </a:r>
            <a:r>
              <a:rPr lang="en-US" sz="2800" dirty="0" err="1">
                <a:solidFill>
                  <a:srgbClr val="1F2937"/>
                </a:solidFill>
                <a:latin typeface="Arial" pitchFamily="34" charset="0"/>
                <a:ea typeface="Arial" pitchFamily="34" charset="-122"/>
                <a:cs typeface="Arial" pitchFamily="34" charset="-120"/>
              </a:rPr>
              <a:t>HiPerGator</a:t>
            </a:r>
            <a:r>
              <a:rPr lang="en-US" sz="2800" dirty="0">
                <a:solidFill>
                  <a:srgbClr val="1F2937"/>
                </a:solidFill>
                <a:latin typeface="Arial" pitchFamily="34" charset="0"/>
                <a:ea typeface="Arial" pitchFamily="34" charset="-122"/>
                <a:cs typeface="Arial" pitchFamily="34" charset="-120"/>
              </a:rPr>
              <a:t>.</a:t>
            </a:r>
            <a:endParaRPr lang="en-US" sz="2800" dirty="0"/>
          </a:p>
        </p:txBody>
      </p:sp>
      <p:sp>
        <p:nvSpPr>
          <p:cNvPr id="4" name="Text 2"/>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822960"/>
          </a:xfrm>
          <a:prstGeom prst="rect">
            <a:avLst/>
          </a:prstGeom>
          <a:noFill/>
          <a:ln/>
        </p:spPr>
        <p:txBody>
          <a:bodyPr wrap="square" rtlCol="0" anchor="ctr"/>
          <a:lstStyle/>
          <a:p>
            <a:pPr marL="0" indent="0">
              <a:buNone/>
            </a:pPr>
            <a:r>
              <a:rPr lang="en-US" sz="3300" dirty="0">
                <a:solidFill>
                  <a:srgbClr val="111827"/>
                </a:solidFill>
                <a:latin typeface="Arial" pitchFamily="34" charset="0"/>
                <a:ea typeface="Arial" pitchFamily="34" charset="-122"/>
                <a:cs typeface="Arial" pitchFamily="34" charset="-120"/>
              </a:rPr>
              <a:t>Getting help</a:t>
            </a:r>
            <a:endParaRPr lang="en-US" sz="3300" dirty="0"/>
          </a:p>
        </p:txBody>
      </p:sp>
      <p:sp>
        <p:nvSpPr>
          <p:cNvPr id="3" name="Text 1"/>
          <p:cNvSpPr/>
          <p:nvPr/>
        </p:nvSpPr>
        <p:spPr>
          <a:xfrm>
            <a:off x="566928" y="1874520"/>
            <a:ext cx="10972800" cy="4206240"/>
          </a:xfrm>
          <a:prstGeom prst="rect">
            <a:avLst/>
          </a:prstGeom>
          <a:noFill/>
          <a:ln/>
        </p:spPr>
        <p:txBody>
          <a:bodyPr wrap="square" rtlCol="0" anchor="t"/>
          <a:lstStyle/>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Post your questions on Canvas.</a:t>
            </a:r>
            <a:endParaRPr lang="en-US" sz="2800" dirty="0"/>
          </a:p>
          <a:p>
            <a:pPr marL="228600" indent="-228600">
              <a:spcAft>
                <a:spcPts val="1000"/>
              </a:spcAft>
              <a:buSzPct val="100000"/>
              <a:buChar char="•"/>
            </a:pPr>
            <a:r>
              <a:rPr lang="en-US" sz="2800" dirty="0">
                <a:solidFill>
                  <a:srgbClr val="1F2937"/>
                </a:solidFill>
                <a:latin typeface="Arial" pitchFamily="34" charset="0"/>
                <a:ea typeface="Arial" pitchFamily="34" charset="-122"/>
                <a:cs typeface="Arial" pitchFamily="34" charset="-120"/>
              </a:rPr>
              <a:t>Bring questions to office hours (Monday 3 - 5 pm).</a:t>
            </a:r>
            <a:endParaRPr lang="en-US" sz="2800" dirty="0"/>
          </a:p>
        </p:txBody>
      </p:sp>
      <p:sp>
        <p:nvSpPr>
          <p:cNvPr id="4" name="Text 2"/>
          <p:cNvSpPr/>
          <p:nvPr/>
        </p:nvSpPr>
        <p:spPr>
          <a:xfrm>
            <a:off x="652272" y="4484579"/>
            <a:ext cx="10972800" cy="457200"/>
          </a:xfrm>
          <a:prstGeom prst="rect">
            <a:avLst/>
          </a:prstGeom>
          <a:noFill/>
          <a:ln/>
        </p:spPr>
        <p:txBody>
          <a:bodyPr wrap="square" rtlCol="0" anchor="ctr"/>
          <a:lstStyle/>
          <a:p>
            <a:pPr marL="0" indent="0">
              <a:buNone/>
            </a:pPr>
            <a:r>
              <a:rPr lang="en-US" sz="2800" dirty="0">
                <a:solidFill>
                  <a:srgbClr val="1F2937"/>
                </a:solidFill>
                <a:latin typeface="Arial" pitchFamily="34" charset="0"/>
                <a:ea typeface="Arial" pitchFamily="34" charset="-122"/>
                <a:cs typeface="Arial" pitchFamily="34" charset="-120"/>
              </a:rPr>
              <a:t>Course repository:  </a:t>
            </a:r>
            <a:r>
              <a:rPr lang="en-US" sz="2800" u="sng" dirty="0">
                <a:solidFill>
                  <a:srgbClr val="2C7A8C"/>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github.com/dguari1/AIforMovementScience</a:t>
            </a:r>
            <a:endParaRPr lang="en-US" sz="2800" dirty="0"/>
          </a:p>
        </p:txBody>
      </p:sp>
      <p:sp>
        <p:nvSpPr>
          <p:cNvPr id="5" name="Text 3"/>
          <p:cNvSpPr/>
          <p:nvPr/>
        </p:nvSpPr>
        <p:spPr>
          <a:xfrm>
            <a:off x="11430000" y="6446520"/>
            <a:ext cx="54864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989</Words>
  <Application>Microsoft Macintosh PowerPoint</Application>
  <PresentationFormat>Widescreen</PresentationFormat>
  <Paragraphs>121</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 APK 6725 AI for Sports and  Movement Sciences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Guarin, Diego L.</cp:lastModifiedBy>
  <cp:revision>2</cp:revision>
  <dcterms:created xsi:type="dcterms:W3CDTF">2026-08-24T20:52:50Z</dcterms:created>
  <dcterms:modified xsi:type="dcterms:W3CDTF">2026-08-25T16:48:53Z</dcterms:modified>
</cp:coreProperties>
</file>