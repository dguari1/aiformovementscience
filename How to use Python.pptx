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  <p:sldId id="280" r:id="rId6"/>
    <p:sldId id="263" r:id="rId7"/>
    <p:sldId id="264" r:id="rId8"/>
    <p:sldId id="265" r:id="rId9"/>
    <p:sldId id="266" r:id="rId10"/>
    <p:sldId id="262" r:id="rId11"/>
    <p:sldId id="267" r:id="rId12"/>
    <p:sldId id="268" r:id="rId13"/>
    <p:sldId id="281" r:id="rId14"/>
    <p:sldId id="269" r:id="rId15"/>
    <p:sldId id="270" r:id="rId16"/>
    <p:sldId id="271" r:id="rId17"/>
    <p:sldId id="272" r:id="rId18"/>
    <p:sldId id="274" r:id="rId19"/>
    <p:sldId id="273" r:id="rId20"/>
    <p:sldId id="279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5"/>
    <p:restoredTop sz="94693"/>
  </p:normalViewPr>
  <p:slideViewPr>
    <p:cSldViewPr snapToGrid="0">
      <p:cViewPr varScale="1">
        <p:scale>
          <a:sx n="141" d="100"/>
          <a:sy n="141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7D78-3C7B-EA15-9278-D46DB0B47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7F98C-1098-7530-44B3-1F361D2B2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D27DD-60BF-1A6F-36EC-C7E189A1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DF903-3BAB-F621-E331-9814FF78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1F422-A7D2-07A4-0CF4-8C38497A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3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A566C-96D1-5D7F-9EFA-897549A9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48D07-C861-0A96-B47A-2346B86DE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2D795-0F51-D7C5-1572-3924BA0D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D856A-3D36-4F6A-F1AE-85119503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187FE-FDF1-DFBB-542C-C7DD45B5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2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0A35-6691-AF11-E522-5B6AE871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AF04E-1188-83EC-A6A9-5FB14F81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7449-E272-9E5E-FE8C-76C6B446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2189-B793-189E-353F-9C916009D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24586-F488-3BFA-E8C6-AB29E07F3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9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6124-E927-D638-D742-5E9EDB71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2E144-FFAA-60AB-7CB3-6D979ECAD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02163-F135-4E46-B4F5-BBE46BCB5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2F89B-D9A9-0DD6-913C-3D2B366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E1AB1-49DF-54C4-54E1-573EF24A1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B4907-6967-6259-A5E8-51347244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0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8A652-929F-4B22-EEBC-099428E8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3D0A0-EA38-1B0D-6CF5-1CD5652C4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F6690-12DC-842D-21D9-D26E58CA5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2FCA1-A485-85F2-D0BA-641153A7E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F56BF7-3623-F654-6463-3B1DF45E3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EEFDE-BAC9-8ADB-5A45-CF37E54B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C3861-77F0-A619-176A-4E5509A57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27292-5069-3438-6FED-D1BF4BBE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6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1C68C-9675-CA40-6567-9B7FF574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66DA6-2571-3E4E-83A1-C904FE03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36AC9-2A48-E00E-E145-A59C94AA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B989F-EBBC-0D30-02D2-C9916805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A1673E-86AC-25E8-C6C3-5DC36990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BCE80-1D8A-E90F-CD13-2186EB67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DB16C-B4C7-18B5-3F2E-FB4B4E7A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0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9650-4E5C-076C-AD14-D0FB62BD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1142-EDCC-7AB2-6A4A-C3552C9C4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6B869-F2C4-D15A-F780-DDBA31FB3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1F1BF-0299-722F-9347-A53152938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6C503-E115-37D8-D044-33DF2A04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91561-8018-A1D9-0688-368C0F40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2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505A-622B-260A-4B99-61F8788EB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13B2D-810A-8DE6-2B6E-0BF73BE5F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0BFA7-E493-F040-C498-524C17EF4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BD0C-6FD8-0F23-3D9E-1980F75F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37604-5E0A-FD3B-0163-8A6361F8C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11BA0-2C2A-D7BE-073A-FF82CE42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6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44F16-47C9-6174-3E28-7A9E6E4D0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3592-1815-F93D-8981-F5A98FBDE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29D0-FAE3-9735-7998-4A1EE5B5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4DDC4-CE56-C391-58E8-77E65665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E78B-C290-8980-DD99-4297FDD3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9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637B0-4B9F-01B7-91AC-50972F0A6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EF20B-5EBC-F581-8935-4F6C6FAF0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7A391-1832-0B43-27E8-CA1C6F0C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FFF8A-08D7-552A-5284-22C2A960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FF408-2DF2-FA39-A5BC-1BE98F3C5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2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0D546E-B01F-6B55-E461-CCBC59CC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D619B-9FA6-17CF-E90D-973B9B3B4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D55FF-0875-EA0E-AD88-CAC3DA69F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CD771-E527-0B44-BA3C-FA5AD0F4036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650B7-E1B0-6A41-1ABA-F4A1B51EC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70E9F-7A1F-CF2D-2E89-129130A0D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98B7B-BBFC-0F40-894F-115E80AEE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conda.com/download/succes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56BD58E-7C44-C62F-7C44-F73719BC7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7199" y="4558399"/>
            <a:ext cx="8779376" cy="1351722"/>
          </a:xfrm>
        </p:spPr>
        <p:txBody>
          <a:bodyPr>
            <a:normAutofit/>
          </a:bodyPr>
          <a:lstStyle/>
          <a:p>
            <a:r>
              <a:rPr lang="en-US" sz="3200" dirty="0"/>
              <a:t>Introduction to Python</a:t>
            </a:r>
          </a:p>
        </p:txBody>
      </p:sp>
      <p:pic>
        <p:nvPicPr>
          <p:cNvPr id="1026" name="Picture 2" descr="University of Florida Logo, symbol, meaning, history, PNG, brand">
            <a:extLst>
              <a:ext uri="{FF2B5EF4-FFF2-40B4-BE49-F238E27FC236}">
                <a16:creationId xmlns:a16="http://schemas.microsoft.com/office/drawing/2014/main" id="{58EAAEF0-DF6C-3FB1-9CE6-FAB6B4AF68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19" b="32609"/>
          <a:stretch/>
        </p:blipFill>
        <p:spPr bwMode="auto">
          <a:xfrm>
            <a:off x="1" y="5824826"/>
            <a:ext cx="5237018" cy="103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riangle 6">
            <a:extLst>
              <a:ext uri="{FF2B5EF4-FFF2-40B4-BE49-F238E27FC236}">
                <a16:creationId xmlns:a16="http://schemas.microsoft.com/office/drawing/2014/main" id="{9F3E4CAE-D638-74D6-99C8-B124D9161783}"/>
              </a:ext>
            </a:extLst>
          </p:cNvPr>
          <p:cNvSpPr/>
          <p:nvPr/>
        </p:nvSpPr>
        <p:spPr>
          <a:xfrm rot="-2700000">
            <a:off x="9825790" y="4485310"/>
            <a:ext cx="2743200" cy="2743200"/>
          </a:xfrm>
          <a:prstGeom prst="triangle">
            <a:avLst/>
          </a:prstGeom>
          <a:solidFill>
            <a:schemeClr val="bg2">
              <a:alpha val="5969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BeneScholar™ Tuition Discounts">
            <a:extLst>
              <a:ext uri="{FF2B5EF4-FFF2-40B4-BE49-F238E27FC236}">
                <a16:creationId xmlns:a16="http://schemas.microsoft.com/office/drawing/2014/main" id="{C3FF1229-1165-87C8-E022-95D94B7F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1363"/>
            <a:ext cx="76200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CF2DAD-8CAD-D82C-9823-A41E5C8DD594}"/>
              </a:ext>
            </a:extLst>
          </p:cNvPr>
          <p:cNvSpPr/>
          <p:nvPr/>
        </p:nvSpPr>
        <p:spPr>
          <a:xfrm>
            <a:off x="994612" y="1227221"/>
            <a:ext cx="10202778" cy="45084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ED9B5D4-5959-8D97-EE58-E2BA568A2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086" y="2490244"/>
            <a:ext cx="10701195" cy="1877511"/>
          </a:xfrm>
        </p:spPr>
        <p:txBody>
          <a:bodyPr>
            <a:normAutofit fontScale="90000"/>
          </a:bodyPr>
          <a:lstStyle/>
          <a:p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u="sng" dirty="0">
                <a:effectLst/>
                <a:latin typeface="Calibri" panose="020F0502020204030204" pitchFamily="34" charset="0"/>
              </a:rPr>
              <a:t>APK 6725</a:t>
            </a:r>
            <a:br>
              <a:rPr lang="en-US" dirty="0">
                <a:effectLst/>
                <a:latin typeface="Calibri" panose="020F0502020204030204" pitchFamily="34" charset="0"/>
              </a:rPr>
            </a:br>
            <a:r>
              <a:rPr lang="en-US" dirty="0">
                <a:effectLst/>
                <a:latin typeface="Calibri" panose="020F0502020204030204" pitchFamily="34" charset="0"/>
              </a:rPr>
              <a:t>AI for Sports and  Movement Sciences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41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BD0A-7B2A-6134-9BA6-E6CEE5CC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24FA-CFD3-060D-A3E7-4E888910C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Python?</a:t>
            </a:r>
          </a:p>
          <a:p>
            <a:pPr marL="0" indent="0">
              <a:buNone/>
            </a:pPr>
            <a:r>
              <a:rPr lang="en-US" dirty="0"/>
              <a:t>Python is a VERY popular high-level programming language. Python is well suited for rapid prototyping.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Python? </a:t>
            </a:r>
          </a:p>
          <a:p>
            <a:pPr marL="0" indent="0">
              <a:buNone/>
            </a:pPr>
            <a:r>
              <a:rPr lang="en-US" dirty="0"/>
              <a:t>Python is now the default programming language for data science applications. Python and its many libraries are used in thousands of data science projects. Everyone, from students to billion-dollar corporations, use Python.</a:t>
            </a:r>
          </a:p>
        </p:txBody>
      </p:sp>
    </p:spTree>
    <p:extLst>
      <p:ext uri="{BB962C8B-B14F-4D97-AF65-F5344CB8AC3E}">
        <p14:creationId xmlns:p14="http://schemas.microsoft.com/office/powerpoint/2010/main" val="296347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5793-AEAB-9A72-DCC3-9007C174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38AE-0D87-A088-82CF-08A79984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different ways to use Python, these include:</a:t>
            </a:r>
          </a:p>
          <a:p>
            <a:pPr>
              <a:buFontTx/>
              <a:buChar char="-"/>
            </a:pPr>
            <a:r>
              <a:rPr lang="en-US" dirty="0"/>
              <a:t>Locally (install Python in your machine)</a:t>
            </a:r>
          </a:p>
          <a:p>
            <a:pPr>
              <a:buFontTx/>
              <a:buChar char="-"/>
            </a:pPr>
            <a:r>
              <a:rPr lang="en-US" dirty="0"/>
              <a:t>In the cloud (Run python in an external server)</a:t>
            </a:r>
          </a:p>
          <a:p>
            <a:pPr lvl="1">
              <a:buFontTx/>
              <a:buChar char="-"/>
            </a:pPr>
            <a:r>
              <a:rPr lang="en-US" dirty="0"/>
              <a:t>Using services such as </a:t>
            </a:r>
            <a:r>
              <a:rPr lang="en-US" dirty="0" err="1"/>
              <a:t>HiperGator</a:t>
            </a:r>
            <a:r>
              <a:rPr lang="en-US" dirty="0"/>
              <a:t>, Google Collaboratory, or Digital Ocean </a:t>
            </a:r>
          </a:p>
          <a:p>
            <a:pPr lvl="1">
              <a:buFontTx/>
              <a:buChar char="-"/>
            </a:pPr>
            <a:r>
              <a:rPr lang="en-US" dirty="0"/>
              <a:t>Hiring a computer stored in a data center and accessing it via SSH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3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89C8E-6DBA-56B9-8E24-BA7A31BE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602E4-6151-A1D8-B987-D70619E7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 descr="link to URL used to download the Anaconda software.&#10;">
            <a:extLst>
              <a:ext uri="{FF2B5EF4-FFF2-40B4-BE49-F238E27FC236}">
                <a16:creationId xmlns:a16="http://schemas.microsoft.com/office/drawing/2014/main" id="{31D753B8-07EC-308F-E54D-EB2FADEF1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easiest (in my opinion) way to install Python is via anaconda. </a:t>
            </a:r>
          </a:p>
          <a:p>
            <a:pPr marL="0" indent="0">
              <a:buNone/>
            </a:pPr>
            <a:r>
              <a:rPr lang="en-US" dirty="0"/>
              <a:t>To get started, visit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https://www.anaconda.com/download/success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Find your operating system (Windows or Mac) and download the </a:t>
            </a:r>
            <a:r>
              <a:rPr lang="en-US" b="1" dirty="0"/>
              <a:t>Graphical Installer.</a:t>
            </a:r>
          </a:p>
        </p:txBody>
      </p:sp>
    </p:spTree>
    <p:extLst>
      <p:ext uri="{BB962C8B-B14F-4D97-AF65-F5344CB8AC3E}">
        <p14:creationId xmlns:p14="http://schemas.microsoft.com/office/powerpoint/2010/main" val="30212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7B43-DB04-F3A1-DD94-8E57E16F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02F4-2428-CC66-E581-47EB79555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128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The following steps will install a large program in your computer. This is not needed to use Python; it is just convenient. </a:t>
            </a:r>
          </a:p>
          <a:p>
            <a:pPr marL="0" indent="0">
              <a:buNone/>
            </a:pPr>
            <a:r>
              <a:rPr lang="en-US" dirty="0"/>
              <a:t>If you </a:t>
            </a:r>
            <a:r>
              <a:rPr lang="en-US" u="sng" dirty="0"/>
              <a:t>don’t want </a:t>
            </a:r>
            <a:r>
              <a:rPr lang="en-US" dirty="0"/>
              <a:t>to install this large program, you can install </a:t>
            </a:r>
            <a:r>
              <a:rPr lang="en-US" b="1" dirty="0" err="1"/>
              <a:t>Miniconda</a:t>
            </a:r>
            <a:r>
              <a:rPr lang="en-US" dirty="0"/>
              <a:t> and then type in the terminal</a:t>
            </a:r>
          </a:p>
          <a:p>
            <a:pPr marL="0" indent="0" algn="ctr">
              <a:buNone/>
            </a:pPr>
            <a:r>
              <a:rPr lang="en-US" sz="2400" dirty="0"/>
              <a:t>&gt;&gt; </a:t>
            </a:r>
            <a:r>
              <a:rPr lang="en-US" sz="2400" dirty="0" err="1"/>
              <a:t>conda</a:t>
            </a:r>
            <a:r>
              <a:rPr lang="en-US" sz="2400" dirty="0"/>
              <a:t> install </a:t>
            </a:r>
            <a:r>
              <a:rPr lang="en-US" sz="2400" dirty="0" err="1"/>
              <a:t>numpy</a:t>
            </a:r>
            <a:r>
              <a:rPr lang="en-US" sz="2400" dirty="0"/>
              <a:t> pandas scikit-learn matplotlib seaborn </a:t>
            </a:r>
            <a:r>
              <a:rPr lang="en-US" sz="2400" dirty="0" err="1"/>
              <a:t>jupyter</a:t>
            </a:r>
            <a:endParaRPr lang="en-US" sz="240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Afterwards, you will be all set to start working on your assignments.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9842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F470-A7A4-FFF1-C3DC-28ED1A9F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4B83-29BE-A537-59E9-F5DE47A7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98A8-E771-70A8-E14E-06CD4099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9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</p:txBody>
      </p:sp>
      <p:pic>
        <p:nvPicPr>
          <p:cNvPr id="4" name="Picture 3" descr="A screenshot of a computer showing which software to download.">
            <a:extLst>
              <a:ext uri="{FF2B5EF4-FFF2-40B4-BE49-F238E27FC236}">
                <a16:creationId xmlns:a16="http://schemas.microsoft.com/office/drawing/2014/main" id="{E9186078-3476-2A6F-AF69-B405F5250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44750"/>
            <a:ext cx="7772400" cy="37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5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191A-2ACB-C9CD-A6C2-DFF7EE77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2070-5410-4BB6-D0FB-320BE503A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508AB-95DD-8F1F-3293-D146870EC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9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</p:txBody>
      </p:sp>
      <p:pic>
        <p:nvPicPr>
          <p:cNvPr id="5" name="Picture 4" descr="A screenshot of a computer showing which software to download.&#10;">
            <a:extLst>
              <a:ext uri="{FF2B5EF4-FFF2-40B4-BE49-F238E27FC236}">
                <a16:creationId xmlns:a16="http://schemas.microsoft.com/office/drawing/2014/main" id="{8A2194A3-C628-B2FB-2ABE-AA2020BD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01" y="2842054"/>
            <a:ext cx="8349198" cy="33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0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6EDB-DF0A-5E17-27ED-71849219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1BA35-258B-8009-E150-CB47EE51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1A577-BAA8-CA1A-D543-CC7B25B5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9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installing anaconda on your computer, find :</a:t>
            </a:r>
          </a:p>
          <a:p>
            <a:pPr>
              <a:buFontTx/>
              <a:buChar char="-"/>
            </a:pPr>
            <a:r>
              <a:rPr lang="en-US" dirty="0"/>
              <a:t>For Mac -&gt; </a:t>
            </a:r>
            <a:r>
              <a:rPr lang="en-US" b="1" dirty="0"/>
              <a:t>Terminal</a:t>
            </a:r>
            <a:endParaRPr lang="en-US" dirty="0"/>
          </a:p>
        </p:txBody>
      </p:sp>
      <p:pic>
        <p:nvPicPr>
          <p:cNvPr id="4" name="Picture 3" descr="A screenshot of a computer showing the Terminal program ">
            <a:extLst>
              <a:ext uri="{FF2B5EF4-FFF2-40B4-BE49-F238E27FC236}">
                <a16:creationId xmlns:a16="http://schemas.microsoft.com/office/drawing/2014/main" id="{422B6AA1-2E4B-ACB7-2281-781320FA3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187" y="3944726"/>
            <a:ext cx="5459626" cy="291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8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148C2-DD98-9757-AE66-790E3BB4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7C830-C806-42B9-1515-EFFB34AC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B262-A2F4-475C-E0F9-BD9E0564E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99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r>
              <a:rPr lang="en-US" dirty="0"/>
              <a:t>After installing anaconda on your computer, find :</a:t>
            </a:r>
          </a:p>
          <a:p>
            <a:pPr>
              <a:buFontTx/>
              <a:buChar char="-"/>
            </a:pPr>
            <a:r>
              <a:rPr lang="en-US" dirty="0"/>
              <a:t>For Windows -&gt; </a:t>
            </a:r>
            <a:r>
              <a:rPr lang="en-US" b="1" dirty="0"/>
              <a:t>Anaconda Power Shell  </a:t>
            </a:r>
            <a:r>
              <a:rPr lang="en-US" dirty="0"/>
              <a:t>-&gt; Run as Administrator</a:t>
            </a:r>
          </a:p>
        </p:txBody>
      </p:sp>
      <p:pic>
        <p:nvPicPr>
          <p:cNvPr id="4" name="Picture 3" descr="A screenshot of a computer showing the Terminal program ">
            <a:extLst>
              <a:ext uri="{FF2B5EF4-FFF2-40B4-BE49-F238E27FC236}">
                <a16:creationId xmlns:a16="http://schemas.microsoft.com/office/drawing/2014/main" id="{402E0B0F-CA8D-CAD2-5F80-AAE875D2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645" y="3340459"/>
            <a:ext cx="4388709" cy="35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5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DA4C-2C2A-91C6-2652-14B04514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B982F-6120-A8D5-5933-896D4383F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r>
              <a:rPr lang="en-US" dirty="0"/>
              <a:t>You should see something like this: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 showing the Terminal program ">
            <a:extLst>
              <a:ext uri="{FF2B5EF4-FFF2-40B4-BE49-F238E27FC236}">
                <a16:creationId xmlns:a16="http://schemas.microsoft.com/office/drawing/2014/main" id="{788039C3-BC78-FE22-A507-24BDB007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78" y="3099797"/>
            <a:ext cx="11048152" cy="27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8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FFDC-1CFE-C233-D82D-8B019975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A1D2-49BA-82F0-4B2F-BE0BB543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1E7B-A6EE-28FC-E547-E8F163810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new folder where you will store all your code, for example</a:t>
            </a:r>
          </a:p>
          <a:p>
            <a:pPr marL="0" indent="0" algn="ctr">
              <a:buNone/>
            </a:pPr>
            <a:r>
              <a:rPr lang="en-US" dirty="0"/>
              <a:t>\Documents\</a:t>
            </a:r>
            <a:r>
              <a:rPr lang="en-US" dirty="0" err="1"/>
              <a:t>AIforMovementSciences</a:t>
            </a:r>
            <a:r>
              <a:rPr lang="en-US" dirty="0"/>
              <a:t>\</a:t>
            </a:r>
          </a:p>
          <a:p>
            <a:pPr marL="0" indent="0">
              <a:buNone/>
            </a:pPr>
            <a:r>
              <a:rPr lang="en-US" dirty="0"/>
              <a:t>And navigate to that folder in the terminal window.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Note-&gt; avoid using spaces in the folder’s name, for example, “AI for Movement Sciences” should be “</a:t>
            </a:r>
            <a:r>
              <a:rPr lang="en-US" dirty="0" err="1"/>
              <a:t>AIforMovementSciences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49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C9D0-D9F5-8B56-1CED-9086C59F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E4A4-8A3A-D056-BEC0-2F1CF10BC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 to the folder in the Terminal using the ‘cd’ command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computer showing the Terminal program ">
            <a:extLst>
              <a:ext uri="{FF2B5EF4-FFF2-40B4-BE49-F238E27FC236}">
                <a16:creationId xmlns:a16="http://schemas.microsoft.com/office/drawing/2014/main" id="{CF4AD89C-39D0-1143-E981-DC09A5635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7" y="3429000"/>
            <a:ext cx="11990565" cy="257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36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FFA7E-2EB8-94DB-61D0-F8472F3D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295A-AABA-2F5A-CE06-A84AFDDE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83711-ECBC-D8EF-3FD4-32A902925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Type ‘</a:t>
            </a:r>
            <a:r>
              <a:rPr lang="en-US" dirty="0" err="1"/>
              <a:t>jupyter</a:t>
            </a:r>
            <a:r>
              <a:rPr lang="en-US" dirty="0"/>
              <a:t> notebook’ in the terminal and press Enter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showing the Terminal program ">
            <a:extLst>
              <a:ext uri="{FF2B5EF4-FFF2-40B4-BE49-F238E27FC236}">
                <a16:creationId xmlns:a16="http://schemas.microsoft.com/office/drawing/2014/main" id="{30FC740E-7DE2-0EF2-56F8-C935261D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20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7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4FEF-18A1-B4E0-9B57-A671866B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81CA-DE4D-CA83-4A91-2EAE7736E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action will open a new browser window that allows you to create new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 showing the Jupyter Notebook">
            <a:extLst>
              <a:ext uri="{FF2B5EF4-FFF2-40B4-BE49-F238E27FC236}">
                <a16:creationId xmlns:a16="http://schemas.microsoft.com/office/drawing/2014/main" id="{B742A9E8-251D-B7B5-6452-A7FED085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99" y="4001294"/>
            <a:ext cx="10980802" cy="179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74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0D75-2560-1CEB-0FF2-A0AB03F4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FAE9D-8F31-51F8-88A3-71DED27D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F6D1-0468-65D6-1006-41519FA85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r>
              <a:rPr lang="en-US" dirty="0"/>
              <a:t>Click on New -&gt; Python 3</a:t>
            </a:r>
          </a:p>
        </p:txBody>
      </p:sp>
      <p:pic>
        <p:nvPicPr>
          <p:cNvPr id="5" name="Picture 4" descr="A screenshot of a computer showing how to create a new Jupyter Notebook">
            <a:extLst>
              <a:ext uri="{FF2B5EF4-FFF2-40B4-BE49-F238E27FC236}">
                <a16:creationId xmlns:a16="http://schemas.microsoft.com/office/drawing/2014/main" id="{231D08BF-7B30-77FA-7C90-2967A53C2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33" y="3024015"/>
            <a:ext cx="11623334" cy="276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45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1920-CEC2-BB3F-8000-0B08C47B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46DEA-FA8D-2D30-C606-A48F9A855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r>
              <a:rPr lang="en-US" dirty="0"/>
              <a:t>A new browser tab will open with the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Click on Untitled and change the file name, for instance, to “Example”</a:t>
            </a:r>
          </a:p>
        </p:txBody>
      </p:sp>
      <p:pic>
        <p:nvPicPr>
          <p:cNvPr id="4" name="Picture 3" descr="A screenshot of a computer showing how to rename a Jupyter Notebook">
            <a:extLst>
              <a:ext uri="{FF2B5EF4-FFF2-40B4-BE49-F238E27FC236}">
                <a16:creationId xmlns:a16="http://schemas.microsoft.com/office/drawing/2014/main" id="{330649F7-DE2E-32A6-D167-FD0647C0C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60695"/>
            <a:ext cx="7772400" cy="168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063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7A29B-F0A3-5B0F-ECC8-07F7F647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753E-E0C4-C5B0-997D-C0FE74A9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3D393-8957-4FB2-3B43-270387531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are now ready to start working with Python using </a:t>
            </a:r>
            <a:r>
              <a:rPr lang="en-US" dirty="0" err="1"/>
              <a:t>Jupyter</a:t>
            </a:r>
            <a:r>
              <a:rPr lang="en-US" dirty="0"/>
              <a:t> Notebooks. </a:t>
            </a:r>
          </a:p>
        </p:txBody>
      </p:sp>
      <p:pic>
        <p:nvPicPr>
          <p:cNvPr id="5" name="Picture 4" descr="A screenshot of a computer showing how to use a Jupyter Notebook">
            <a:extLst>
              <a:ext uri="{FF2B5EF4-FFF2-40B4-BE49-F238E27FC236}">
                <a16:creationId xmlns:a16="http://schemas.microsoft.com/office/drawing/2014/main" id="{75621F87-86E2-AEED-4C7A-AD59AC5D5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86" y="3855560"/>
            <a:ext cx="9749028" cy="280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5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628F-EFF4-B99F-4723-CA5C649E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8E86E-99D7-F0A8-217C-9C0A9DBA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r>
              <a:rPr lang="en-US" dirty="0"/>
              <a:t>Always shut down your </a:t>
            </a:r>
            <a:r>
              <a:rPr lang="en-US" dirty="0" err="1"/>
              <a:t>Jupyter</a:t>
            </a:r>
            <a:r>
              <a:rPr lang="en-US" dirty="0"/>
              <a:t> Notebooks (especially if you have GPU). </a:t>
            </a:r>
          </a:p>
        </p:txBody>
      </p:sp>
      <p:pic>
        <p:nvPicPr>
          <p:cNvPr id="4" name="Picture 3" descr="A screenshot of a computer showing how to shut down a Jupyter Notebook">
            <a:extLst>
              <a:ext uri="{FF2B5EF4-FFF2-40B4-BE49-F238E27FC236}">
                <a16:creationId xmlns:a16="http://schemas.microsoft.com/office/drawing/2014/main" id="{9772C903-DB48-AD0C-7011-E37E21E3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587" y="3101546"/>
            <a:ext cx="6492826" cy="403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00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F61F-A8BA-9047-7D8E-09955AEF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54C3-906B-D2A4-1629-5E5C10FA4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Jupyter</a:t>
            </a:r>
            <a:r>
              <a:rPr lang="en-US" dirty="0"/>
              <a:t> Notebooks is an Integrated Development Environment (IDE) that helps you run and visualize your Python code. But  </a:t>
            </a:r>
            <a:r>
              <a:rPr lang="en-US" dirty="0" err="1"/>
              <a:t>Jupyter</a:t>
            </a:r>
            <a:r>
              <a:rPr lang="en-US" dirty="0"/>
              <a:t> Notebook files (.</a:t>
            </a:r>
            <a:r>
              <a:rPr lang="en-US" dirty="0" err="1"/>
              <a:t>ipynb</a:t>
            </a:r>
            <a:r>
              <a:rPr lang="en-US" dirty="0"/>
              <a:t>) are not pure Python.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Most people in data science will use </a:t>
            </a:r>
            <a:r>
              <a:rPr lang="en-US" dirty="0" err="1"/>
              <a:t>Jupyter</a:t>
            </a:r>
            <a:r>
              <a:rPr lang="en-US" dirty="0"/>
              <a:t> Notebooks, so it is easy to share information and code. However, people in other fields won’t know what Notebooks are, and will ask for a Python (.</a:t>
            </a:r>
            <a:r>
              <a:rPr lang="en-US" dirty="0" err="1"/>
              <a:t>py</a:t>
            </a:r>
            <a:r>
              <a:rPr lang="en-US" dirty="0"/>
              <a:t>) file with your code.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07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2779B-FD5B-1857-3B01-DCD45C03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B9AB-B68A-2F0A-F491-FE6795A4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46454-0700-C8B0-B5C7-EFD666D9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to use Python locally?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Disclaimer:</a:t>
            </a:r>
          </a:p>
          <a:p>
            <a:pPr marL="0" indent="0">
              <a:buNone/>
            </a:pPr>
            <a:r>
              <a:rPr lang="en-US" dirty="0"/>
              <a:t>I personally don’t use </a:t>
            </a:r>
            <a:r>
              <a:rPr lang="en-US" dirty="0" err="1"/>
              <a:t>Jupyter</a:t>
            </a:r>
            <a:r>
              <a:rPr lang="en-US" dirty="0"/>
              <a:t> Notebook directly, rather, I use another IDE called </a:t>
            </a:r>
            <a:r>
              <a:rPr lang="en-US" dirty="0" err="1"/>
              <a:t>VSCode</a:t>
            </a:r>
            <a:r>
              <a:rPr lang="en-US" dirty="0"/>
              <a:t>, which is nicely integrated with many other tools. </a:t>
            </a:r>
          </a:p>
          <a:p>
            <a:pPr marL="0" indent="0">
              <a:buNone/>
            </a:pPr>
            <a:r>
              <a:rPr lang="en-US" dirty="0"/>
              <a:t>You can ‘graduate’ to </a:t>
            </a:r>
            <a:r>
              <a:rPr lang="en-US" dirty="0" err="1"/>
              <a:t>VSCode</a:t>
            </a:r>
            <a:r>
              <a:rPr lang="en-US" dirty="0"/>
              <a:t> once you are comfortable with </a:t>
            </a:r>
            <a:r>
              <a:rPr lang="en-US" dirty="0" err="1"/>
              <a:t>Jupyter</a:t>
            </a:r>
            <a:r>
              <a:rPr lang="en-US" dirty="0"/>
              <a:t> Notebooks.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7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561A-0089-6C2A-6C28-E1E69E68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 descr="URL to access Google Colab">
            <a:extLst>
              <a:ext uri="{FF2B5EF4-FFF2-40B4-BE49-F238E27FC236}">
                <a16:creationId xmlns:a16="http://schemas.microsoft.com/office/drawing/2014/main" id="{01271933-8C62-3308-0077-424B510C0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in the cloud?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easiest approach is to use Google </a:t>
            </a:r>
            <a:r>
              <a:rPr lang="en-US" dirty="0" err="1"/>
              <a:t>Colab</a:t>
            </a:r>
            <a:r>
              <a:rPr lang="en-US" dirty="0"/>
              <a:t>. It is a free (with limitations) service to run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0" i="0" u="sng" dirty="0">
                <a:solidFill>
                  <a:srgbClr val="0969DA"/>
                </a:solidFill>
                <a:effectLst/>
                <a:latin typeface="system-ui"/>
                <a:hlinkClick r:id="rId2"/>
              </a:rPr>
              <a:t>https://colab.research.google.com/</a:t>
            </a:r>
            <a:endParaRPr lang="en-US" b="0" i="0" u="sng" dirty="0">
              <a:solidFill>
                <a:srgbClr val="0969DA"/>
              </a:solidFill>
              <a:effectLst/>
              <a:latin typeface="system-ui"/>
            </a:endParaRPr>
          </a:p>
          <a:p>
            <a:pPr marL="0" indent="0" algn="ctr">
              <a:buNone/>
            </a:pPr>
            <a:endParaRPr lang="en-US" u="sng" dirty="0">
              <a:solidFill>
                <a:srgbClr val="0969DA"/>
              </a:solidFill>
              <a:latin typeface="system-ui"/>
            </a:endParaRPr>
          </a:p>
          <a:p>
            <a:pPr marL="0" indent="0">
              <a:buNone/>
            </a:pPr>
            <a:r>
              <a:rPr lang="en-US" b="0" i="0" dirty="0">
                <a:effectLst/>
              </a:rPr>
              <a:t>We will use Google </a:t>
            </a:r>
            <a:r>
              <a:rPr lang="en-US" b="0" i="0" dirty="0" err="1">
                <a:effectLst/>
              </a:rPr>
              <a:t>Colab</a:t>
            </a:r>
            <a:r>
              <a:rPr lang="en-US" b="0" i="0" dirty="0">
                <a:effectLst/>
              </a:rPr>
              <a:t> in the class, you should be able to complete all the class activities within this environment.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216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906A7-C244-9E6B-7D3D-292C3F64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4790-FBF3-E0CD-A325-4B3A5C80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9937-18F7-D868-B17C-E9AA6BE47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in the cloud?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access YOUR personal Google Drive, you must execute the following code at the beginning of each session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Notebooks are shut down automatically after some period of inactivity. Remember to save your progress. </a:t>
            </a:r>
          </a:p>
        </p:txBody>
      </p:sp>
      <p:pic>
        <p:nvPicPr>
          <p:cNvPr id="4" name="Picture 3" descr="A screen shot showing instruction to use Google Colab">
            <a:extLst>
              <a:ext uri="{FF2B5EF4-FFF2-40B4-BE49-F238E27FC236}">
                <a16:creationId xmlns:a16="http://schemas.microsoft.com/office/drawing/2014/main" id="{741900D1-D776-C088-8FCB-33CAFE1B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00" y="3779289"/>
            <a:ext cx="60706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85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C7175-20FD-8ACC-E024-9AF6D059C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F6F1E-8C93-7128-9564-80EDF519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22370-A9FC-4CA8-1788-657466DA9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in the cloud?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Another approach is to use UF’s </a:t>
            </a:r>
            <a:r>
              <a:rPr lang="en-US" dirty="0" err="1"/>
              <a:t>HiperGator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There are several tutorials online how to access </a:t>
            </a:r>
            <a:r>
              <a:rPr lang="en-US" dirty="0" err="1"/>
              <a:t>Jupyter</a:t>
            </a:r>
            <a:r>
              <a:rPr lang="en-US" dirty="0"/>
              <a:t> Notebooks using </a:t>
            </a:r>
            <a:r>
              <a:rPr lang="en-US" dirty="0" err="1"/>
              <a:t>HiperGator</a:t>
            </a:r>
            <a:r>
              <a:rPr lang="en-US" dirty="0"/>
              <a:t> so we won’t cover this topic in class. </a:t>
            </a:r>
          </a:p>
        </p:txBody>
      </p:sp>
    </p:spTree>
    <p:extLst>
      <p:ext uri="{BB962C8B-B14F-4D97-AF65-F5344CB8AC3E}">
        <p14:creationId xmlns:p14="http://schemas.microsoft.com/office/powerpoint/2010/main" val="2807102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90CF-5E05-3E99-F4C1-5FA0612E8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6CF2-26BD-F31F-C371-C3956D30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A4DE-ACEC-3A66-25C8-FA48EFE34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to use Python in the cloud?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Finally, you can rent a Virtual Machine in AWS or </a:t>
            </a:r>
            <a:r>
              <a:rPr lang="en-US" dirty="0" err="1"/>
              <a:t>GCloud</a:t>
            </a:r>
            <a:r>
              <a:rPr lang="en-US" dirty="0"/>
              <a:t> and have a personal computer in the cloud that you can access via SSH.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rent a computer with the latest GPUs for a few cents per hour, making this the most cost-effective solution for large scale machine learning projects. </a:t>
            </a:r>
          </a:p>
        </p:txBody>
      </p:sp>
    </p:spTree>
    <p:extLst>
      <p:ext uri="{BB962C8B-B14F-4D97-AF65-F5344CB8AC3E}">
        <p14:creationId xmlns:p14="http://schemas.microsoft.com/office/powerpoint/2010/main" val="298034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6869</TotalTime>
  <Words>944</Words>
  <Application>Microsoft Macintosh PowerPoint</Application>
  <PresentationFormat>Widescreen</PresentationFormat>
  <Paragraphs>128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system-ui</vt:lpstr>
      <vt:lpstr>Office Theme</vt:lpstr>
      <vt:lpstr> APK 6725 AI for Sports and  Movement Sciences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  <vt:lpstr>Introduction to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Guarin, Diego L.</dc:creator>
  <cp:lastModifiedBy>Guarin, Diego L.</cp:lastModifiedBy>
  <cp:revision>5</cp:revision>
  <dcterms:created xsi:type="dcterms:W3CDTF">2025-12-18T16:27:07Z</dcterms:created>
  <dcterms:modified xsi:type="dcterms:W3CDTF">2026-08-24T15:53:31Z</dcterms:modified>
</cp:coreProperties>
</file>