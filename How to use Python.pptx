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1" r:id="rId5"/>
    <p:sldId id="280" r:id="rId6"/>
    <p:sldId id="263" r:id="rId7"/>
    <p:sldId id="264" r:id="rId8"/>
    <p:sldId id="265" r:id="rId9"/>
    <p:sldId id="266" r:id="rId10"/>
    <p:sldId id="262" r:id="rId11"/>
    <p:sldId id="267" r:id="rId12"/>
    <p:sldId id="268" r:id="rId13"/>
    <p:sldId id="269" r:id="rId14"/>
    <p:sldId id="270" r:id="rId15"/>
    <p:sldId id="271" r:id="rId16"/>
    <p:sldId id="272" r:id="rId17"/>
    <p:sldId id="274" r:id="rId18"/>
    <p:sldId id="273" r:id="rId19"/>
    <p:sldId id="279" r:id="rId20"/>
    <p:sldId id="275" r:id="rId21"/>
    <p:sldId id="276" r:id="rId22"/>
    <p:sldId id="277" r:id="rId23"/>
    <p:sldId id="278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557D78-3C7B-EA15-9278-D46DB0B474B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17F98C-1098-7530-44B3-1F361D2B2F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AD27DD-60BF-1A6F-36EC-C7E189A132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CD771-E527-0B44-BA3C-FA5AD0F40365}" type="datetimeFigureOut">
              <a:rPr lang="en-US" smtClean="0"/>
              <a:t>12/20/25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EDF903-3BAB-F621-E331-9814FF78B0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51F422-A7D2-07A4-0CF4-8C38497AA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198B7B-BBFC-0F40-894F-115E80AEE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28313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A566C-96D1-5D7F-9EFA-897549A92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548D07-C861-0A96-B47A-2346B86DE0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42D795-0F51-D7C5-1572-3924BA0D9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CD771-E527-0B44-BA3C-FA5AD0F40365}" type="datetimeFigureOut">
              <a:rPr lang="en-US" smtClean="0"/>
              <a:t>12/20/25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0D856A-3D36-4F6A-F1AE-851195039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3187FE-FDF1-DFBB-542C-C7DD45B5D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198B7B-BBFC-0F40-894F-115E80AEE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5129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390A35-6691-AF11-E522-5B6AE8716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0AF04E-1188-83EC-A6A9-5FB14F818C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CA7449-E272-9E5E-FE8C-76C6B446C4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CD771-E527-0B44-BA3C-FA5AD0F40365}" type="datetimeFigureOut">
              <a:rPr lang="en-US" smtClean="0"/>
              <a:t>12/20/25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AC2189-B793-189E-353F-9C916009D1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224586-F488-3BFA-E8C6-AB29E07F3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198B7B-BBFC-0F40-894F-115E80AEE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94911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A6124-E927-D638-D742-5E9EDB71B1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F2E144-FFAA-60AB-7CB3-6D979ECAD6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F702163-F135-4E46-B4F5-BBE46BCB50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12F89B-D9A9-0DD6-913C-3D2B366529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CD771-E527-0B44-BA3C-FA5AD0F40365}" type="datetimeFigureOut">
              <a:rPr lang="en-US" smtClean="0"/>
              <a:t>12/20/25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EE1AB1-49DF-54C4-54E1-573EF24A1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6B4907-6967-6259-A5E8-513472441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198B7B-BBFC-0F40-894F-115E80AEE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52084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18A652-929F-4B22-EEBC-099428E8CF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83D0A0-EA38-1B0D-6CF5-1CD5652C47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F6690-12DC-842D-21D9-D26E58CA5A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D2FCA1-A485-85F2-D0BA-641153A7E0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F56BF7-3623-F654-6463-3B1DF45E3D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0EEFDE-BAC9-8ADB-5A45-CF37E54B3B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CD771-E527-0B44-BA3C-FA5AD0F40365}" type="datetimeFigureOut">
              <a:rPr lang="en-US" smtClean="0"/>
              <a:t>12/20/25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2C3861-77F0-A619-176A-4E5509A57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BF27292-5069-3438-6FED-D1BF4BBE2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198B7B-BBFC-0F40-894F-115E80AEE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4865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C1C68C-9675-CA40-6567-9B7FF5748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966DA6-2571-3E4E-83A1-C904FE039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CD771-E527-0B44-BA3C-FA5AD0F40365}" type="datetimeFigureOut">
              <a:rPr lang="en-US" smtClean="0"/>
              <a:t>12/20/25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E36AC9-2A48-E00E-E145-A59C94AAFD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4B989F-EBBC-0D30-02D2-C9916805C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198B7B-BBFC-0F40-894F-115E80AEE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5488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7A1673E-86AC-25E8-C6C3-5DC369903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CD771-E527-0B44-BA3C-FA5AD0F40365}" type="datetimeFigureOut">
              <a:rPr lang="en-US" smtClean="0"/>
              <a:t>12/20/25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5BCE80-1D8A-E90F-CD13-2186EB6754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CDB16C-B4C7-18B5-3F2E-FB4B4E7A79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198B7B-BBFC-0F40-894F-115E80AEE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13040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99650-4E5C-076C-AD14-D0FB62BDD1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2A1142-EDCC-7AB2-6A4A-C3552C9C4B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86B869-F2C4-D15A-F780-DDBA31FB34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AF1F1BF-0299-722F-9347-A53152938F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CD771-E527-0B44-BA3C-FA5AD0F40365}" type="datetimeFigureOut">
              <a:rPr lang="en-US" smtClean="0"/>
              <a:t>12/20/25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C6C503-E115-37D8-D044-33DF2A04D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D91561-8018-A1D9-0688-368C0F408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198B7B-BBFC-0F40-894F-115E80AEE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00288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A505A-622B-260A-4B99-61F8788EBC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D13B2D-810A-8DE6-2B6E-0BF73BE5FA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10BFA7-E493-F040-C498-524C17EF49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727BD0C-6FD8-0F23-3D9E-1980F75FA1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CD771-E527-0B44-BA3C-FA5AD0F40365}" type="datetimeFigureOut">
              <a:rPr lang="en-US" smtClean="0"/>
              <a:t>12/20/25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137604-5E0A-FD3B-0163-8A6361F8CA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811BA0-2C2A-D7BE-073A-FF82CE422C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198B7B-BBFC-0F40-894F-115E80AEE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9638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44F16-47C9-6174-3E28-7A9E6E4D0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433592-1815-F93D-8981-F5A98FBDE6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D729D0-FAE3-9735-7998-4A1EE5B5B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CD771-E527-0B44-BA3C-FA5AD0F40365}" type="datetimeFigureOut">
              <a:rPr lang="en-US" smtClean="0"/>
              <a:t>12/20/25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64DDC4-CE56-C391-58E8-77E65665B3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6BE78B-C290-8980-DD99-4297FDD359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198B7B-BBFC-0F40-894F-115E80AEE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9956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68637B0-4B9F-01B7-91AC-50972F0A682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78EF20B-5EBC-F581-8935-4F6C6FAF0D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97A391-1832-0B43-27E8-CA1C6F0C3B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CD771-E527-0B44-BA3C-FA5AD0F40365}" type="datetimeFigureOut">
              <a:rPr lang="en-US" smtClean="0"/>
              <a:t>12/20/25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BFFF8A-08D7-552A-5284-22C2A960A4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6FF408-2DF2-FA39-A5BC-1BE98F3C5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198B7B-BBFC-0F40-894F-115E80AEE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9244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40D546E-B01F-6B55-E461-CCBC59CC0F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8D619B-9FA6-17CF-E90D-973B9B3B46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5D55FF-0875-EA0E-AD88-CAC3DA69F2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3CD771-E527-0B44-BA3C-FA5AD0F40365}" type="datetimeFigureOut">
              <a:rPr lang="en-US" smtClean="0"/>
              <a:t>12/20/25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0650B7-E1B0-6A41-1ABA-F4A1B51ECF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170E9F-7A1F-CF2D-2E89-129130A0D5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198B7B-BBFC-0F40-894F-115E80AEEC4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669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naconda.com/download/success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colab.research.google.com/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74C35-48BB-223B-B13E-5D12E1A6C5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50504" y="1603918"/>
            <a:ext cx="9144000" cy="1877511"/>
          </a:xfrm>
        </p:spPr>
        <p:txBody>
          <a:bodyPr>
            <a:normAutofit fontScale="90000"/>
          </a:bodyPr>
          <a:lstStyle/>
          <a:p>
            <a:br>
              <a:rPr lang="en-US" dirty="0">
                <a:effectLst/>
                <a:latin typeface="Calibri" panose="020F0502020204030204" pitchFamily="34" charset="0"/>
              </a:rPr>
            </a:br>
            <a:r>
              <a:rPr lang="en-US" dirty="0">
                <a:effectLst/>
                <a:latin typeface="Calibri" panose="020F0502020204030204" pitchFamily="34" charset="0"/>
              </a:rPr>
              <a:t>APK 4720 / APK 6725</a:t>
            </a:r>
            <a:br>
              <a:rPr lang="en-US" dirty="0">
                <a:effectLst/>
                <a:latin typeface="Calibri" panose="020F0502020204030204" pitchFamily="34" charset="0"/>
              </a:rPr>
            </a:br>
            <a:r>
              <a:rPr lang="en-US" dirty="0">
                <a:effectLst/>
                <a:latin typeface="Calibri" panose="020F0502020204030204" pitchFamily="34" charset="0"/>
              </a:rPr>
              <a:t>AI for Movement Sciences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6BD58E-7C44-C62F-7C44-F73719BC73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1997" y="3858126"/>
            <a:ext cx="8779376" cy="1351722"/>
          </a:xfrm>
        </p:spPr>
        <p:txBody>
          <a:bodyPr>
            <a:normAutofit/>
          </a:bodyPr>
          <a:lstStyle/>
          <a:p>
            <a:r>
              <a:rPr lang="en-US" dirty="0"/>
              <a:t>Introduction to Python</a:t>
            </a:r>
          </a:p>
        </p:txBody>
      </p:sp>
      <p:pic>
        <p:nvPicPr>
          <p:cNvPr id="1026" name="Picture 2" descr="University of Florida Logo, symbol, meaning, history, PNG, brand">
            <a:extLst>
              <a:ext uri="{FF2B5EF4-FFF2-40B4-BE49-F238E27FC236}">
                <a16:creationId xmlns:a16="http://schemas.microsoft.com/office/drawing/2014/main" id="{58EAAEF0-DF6C-3FB1-9CE6-FAB6B4AF680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319" b="32609"/>
          <a:stretch/>
        </p:blipFill>
        <p:spPr bwMode="auto">
          <a:xfrm>
            <a:off x="1" y="5824826"/>
            <a:ext cx="5237018" cy="1033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riangle 6">
            <a:extLst>
              <a:ext uri="{FF2B5EF4-FFF2-40B4-BE49-F238E27FC236}">
                <a16:creationId xmlns:a16="http://schemas.microsoft.com/office/drawing/2014/main" id="{9F3E4CAE-D638-74D6-99C8-B124D9161783}"/>
              </a:ext>
            </a:extLst>
          </p:cNvPr>
          <p:cNvSpPr/>
          <p:nvPr/>
        </p:nvSpPr>
        <p:spPr>
          <a:xfrm rot="-2700000">
            <a:off x="9825790" y="4485310"/>
            <a:ext cx="2743200" cy="2743200"/>
          </a:xfrm>
          <a:prstGeom prst="triangle">
            <a:avLst/>
          </a:prstGeom>
          <a:solidFill>
            <a:schemeClr val="bg2">
              <a:alpha val="5969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8" name="Picture 4" descr="BeneScholar™ Tuition Discounts">
            <a:extLst>
              <a:ext uri="{FF2B5EF4-FFF2-40B4-BE49-F238E27FC236}">
                <a16:creationId xmlns:a16="http://schemas.microsoft.com/office/drawing/2014/main" id="{C3FF1229-1165-87C8-E022-95D94B7F16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-1363"/>
            <a:ext cx="7620000" cy="1054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DCF2DAD-8CAD-D82C-9823-A41E5C8DD594}"/>
              </a:ext>
            </a:extLst>
          </p:cNvPr>
          <p:cNvSpPr/>
          <p:nvPr/>
        </p:nvSpPr>
        <p:spPr>
          <a:xfrm>
            <a:off x="994612" y="1227221"/>
            <a:ext cx="10202778" cy="450841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24159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5BD0A-7B2A-6134-9BA6-E6CEE5CC90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B24FA-CFD3-060D-A3E7-4E888910C8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What is Python?</a:t>
            </a:r>
          </a:p>
          <a:p>
            <a:pPr marL="0" indent="0">
              <a:buNone/>
            </a:pPr>
            <a:r>
              <a:rPr lang="en-US" dirty="0"/>
              <a:t>Python is a VERY popular high-level programming language. Python is well suited for rapid prototyping.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Why Python? </a:t>
            </a:r>
          </a:p>
          <a:p>
            <a:pPr marL="0" indent="0">
              <a:buNone/>
            </a:pPr>
            <a:r>
              <a:rPr lang="en-US" dirty="0"/>
              <a:t>Python has become the default programming language for data science applications. Python and its many libraries are used in thousands of data science projects. Everyone, from students to billion-dollar corporations, use Python.</a:t>
            </a:r>
          </a:p>
        </p:txBody>
      </p:sp>
    </p:spTree>
    <p:extLst>
      <p:ext uri="{BB962C8B-B14F-4D97-AF65-F5344CB8AC3E}">
        <p14:creationId xmlns:p14="http://schemas.microsoft.com/office/powerpoint/2010/main" val="29634772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035793-AEAB-9A72-DCC3-9007C1742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BC38AE-0D87-A088-82CF-08A799847B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to use Python?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There are different ways to use Python, these include:</a:t>
            </a:r>
          </a:p>
          <a:p>
            <a:pPr>
              <a:buFontTx/>
              <a:buChar char="-"/>
            </a:pPr>
            <a:r>
              <a:rPr lang="en-US" dirty="0"/>
              <a:t>Locally (install Python in your machine)</a:t>
            </a:r>
          </a:p>
          <a:p>
            <a:pPr>
              <a:buFontTx/>
              <a:buChar char="-"/>
            </a:pPr>
            <a:r>
              <a:rPr lang="en-US" dirty="0"/>
              <a:t>In the cloud (Run python in an external server)</a:t>
            </a:r>
          </a:p>
          <a:p>
            <a:pPr lvl="1">
              <a:buFontTx/>
              <a:buChar char="-"/>
            </a:pPr>
            <a:r>
              <a:rPr lang="en-US" dirty="0"/>
              <a:t>Using services such as </a:t>
            </a:r>
            <a:r>
              <a:rPr lang="en-US" dirty="0" err="1"/>
              <a:t>HiperGator</a:t>
            </a:r>
            <a:r>
              <a:rPr lang="en-US" dirty="0"/>
              <a:t>, Google Collaboratory, or Digital Ocean </a:t>
            </a:r>
          </a:p>
          <a:p>
            <a:pPr lvl="1">
              <a:buFontTx/>
              <a:buChar char="-"/>
            </a:pPr>
            <a:r>
              <a:rPr lang="en-US" dirty="0"/>
              <a:t>Hiring a computer stored in a data center and accessing it via SSH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15390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89C8E-6DBA-56B9-8E24-BA7A31BEF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602E4-6151-A1D8-B987-D70619E79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 descr="link to URL used to download the Anaconda software.&#10;">
            <a:extLst>
              <a:ext uri="{FF2B5EF4-FFF2-40B4-BE49-F238E27FC236}">
                <a16:creationId xmlns:a16="http://schemas.microsoft.com/office/drawing/2014/main" id="{31D753B8-07EC-308F-E54D-EB2FADEF19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to use Python locally?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 easiest (in my opinion) way to install Python is via anaconda. To get started, visit </a:t>
            </a:r>
          </a:p>
          <a:p>
            <a:pPr marL="0" indent="0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dirty="0">
                <a:hlinkClick r:id="rId2"/>
              </a:rPr>
              <a:t>https://www.anaconda.com/download/success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  <a:p>
            <a:pPr marL="0" indent="0">
              <a:buNone/>
            </a:pPr>
            <a:r>
              <a:rPr lang="en-US" dirty="0"/>
              <a:t>Find your operating system (Windows or Mac) and download the </a:t>
            </a:r>
            <a:r>
              <a:rPr lang="en-US" b="1" dirty="0"/>
              <a:t>Graphical Installer.</a:t>
            </a:r>
          </a:p>
        </p:txBody>
      </p:sp>
    </p:spTree>
    <p:extLst>
      <p:ext uri="{BB962C8B-B14F-4D97-AF65-F5344CB8AC3E}">
        <p14:creationId xmlns:p14="http://schemas.microsoft.com/office/powerpoint/2010/main" val="3021282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6D7B43-DB04-F3A1-DD94-8E57E16FC9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2702F4-2428-CC66-E581-47EB795556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751288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How to use Python locally?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Note: The following steps will install a large program in your computer. This is not needed to use Python; it is just convenient.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If you </a:t>
            </a:r>
            <a:r>
              <a:rPr lang="en-US" u="sng" dirty="0"/>
              <a:t>don’t want </a:t>
            </a:r>
            <a:r>
              <a:rPr lang="en-US" dirty="0"/>
              <a:t>to install this large program, you can install </a:t>
            </a:r>
            <a:r>
              <a:rPr lang="en-US" b="1" dirty="0" err="1"/>
              <a:t>Miniconda</a:t>
            </a:r>
            <a:r>
              <a:rPr lang="en-US" dirty="0"/>
              <a:t> and then type in terminal</a:t>
            </a:r>
          </a:p>
          <a:p>
            <a:pPr marL="0" indent="0">
              <a:buNone/>
            </a:pPr>
            <a:r>
              <a:rPr lang="en-US" dirty="0"/>
              <a:t>&gt;&gt; </a:t>
            </a:r>
            <a:r>
              <a:rPr lang="en-US" dirty="0" err="1"/>
              <a:t>conda</a:t>
            </a:r>
            <a:r>
              <a:rPr lang="en-US" dirty="0"/>
              <a:t> install </a:t>
            </a:r>
            <a:r>
              <a:rPr lang="en-US" dirty="0" err="1"/>
              <a:t>numpy</a:t>
            </a:r>
            <a:r>
              <a:rPr lang="en-US" dirty="0"/>
              <a:t> pandas scikit-learn matplotlib seaborn </a:t>
            </a:r>
            <a:r>
              <a:rPr lang="en-US" dirty="0" err="1"/>
              <a:t>jupyter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98427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7F470-A7A4-FFF1-C3DC-28ED1A9FA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264B83-29BE-A537-59E9-F5DE47A78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8D98A8-E771-70A8-E14E-06CD409996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4992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How to use Python locally?</a:t>
            </a:r>
          </a:p>
        </p:txBody>
      </p:sp>
      <p:pic>
        <p:nvPicPr>
          <p:cNvPr id="4" name="Picture 3" descr="A screenshot of a computer showing which software to download.">
            <a:extLst>
              <a:ext uri="{FF2B5EF4-FFF2-40B4-BE49-F238E27FC236}">
                <a16:creationId xmlns:a16="http://schemas.microsoft.com/office/drawing/2014/main" id="{E9186078-3476-2A6F-AF69-B405F52504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444750"/>
            <a:ext cx="7772400" cy="3721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6593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2191A-2ACB-C9CD-A6C2-DFF7EE779A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EB2070-5410-4BB6-D0FB-320BE503AC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5508AB-95DD-8F1F-3293-D146870EC9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4992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How to use Python locally?</a:t>
            </a:r>
          </a:p>
        </p:txBody>
      </p:sp>
      <p:pic>
        <p:nvPicPr>
          <p:cNvPr id="5" name="Picture 4" descr="A screenshot of a computer showing which software to download.&#10;">
            <a:extLst>
              <a:ext uri="{FF2B5EF4-FFF2-40B4-BE49-F238E27FC236}">
                <a16:creationId xmlns:a16="http://schemas.microsoft.com/office/drawing/2014/main" id="{8A2194A3-C628-B2FB-2ABE-AA2020BDE8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1401" y="2842054"/>
            <a:ext cx="8349198" cy="3324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89012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D6EDB-DF0A-5E17-27ED-71849219D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61BA35-258B-8009-E150-CB47EE51B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91A577-BAA8-CA1A-D543-CC7B25B581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4992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How to use Python locally?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After installing anaconda on your computer, find :</a:t>
            </a:r>
          </a:p>
          <a:p>
            <a:pPr>
              <a:buFontTx/>
              <a:buChar char="-"/>
            </a:pPr>
            <a:r>
              <a:rPr lang="en-US" dirty="0"/>
              <a:t>For Mac -&gt; </a:t>
            </a:r>
            <a:r>
              <a:rPr lang="en-US" b="1" dirty="0"/>
              <a:t>Terminal</a:t>
            </a:r>
            <a:endParaRPr lang="en-US" dirty="0"/>
          </a:p>
        </p:txBody>
      </p:sp>
      <p:pic>
        <p:nvPicPr>
          <p:cNvPr id="4" name="Picture 3" descr="A screenshot of a computer showing the Terminal program ">
            <a:extLst>
              <a:ext uri="{FF2B5EF4-FFF2-40B4-BE49-F238E27FC236}">
                <a16:creationId xmlns:a16="http://schemas.microsoft.com/office/drawing/2014/main" id="{422B6AA1-2E4B-ACB7-2281-781320FA3F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6187" y="3944726"/>
            <a:ext cx="5459626" cy="2913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08800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148C2-DD98-9757-AE66-790E3BB4B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B7C830-C806-42B9-1515-EFFB34AC2A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B6B262-A2F4-475C-E0F9-BD9E0564ED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4992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How to use Python locally?</a:t>
            </a:r>
          </a:p>
          <a:p>
            <a:pPr marL="0" indent="0">
              <a:buNone/>
            </a:pPr>
            <a:r>
              <a:rPr lang="en-US" dirty="0"/>
              <a:t>After installing anaconda on your computer, find :</a:t>
            </a:r>
          </a:p>
          <a:p>
            <a:pPr>
              <a:buFontTx/>
              <a:buChar char="-"/>
            </a:pPr>
            <a:r>
              <a:rPr lang="en-US" dirty="0"/>
              <a:t>For Windows -&gt; </a:t>
            </a:r>
            <a:r>
              <a:rPr lang="en-US" b="1" dirty="0"/>
              <a:t>Anaconda Power Shell  </a:t>
            </a:r>
            <a:r>
              <a:rPr lang="en-US" dirty="0"/>
              <a:t>-&gt; Run as Administrator</a:t>
            </a:r>
          </a:p>
        </p:txBody>
      </p:sp>
      <p:pic>
        <p:nvPicPr>
          <p:cNvPr id="4" name="Picture 3" descr="A screenshot of a computer showing the Terminal program ">
            <a:extLst>
              <a:ext uri="{FF2B5EF4-FFF2-40B4-BE49-F238E27FC236}">
                <a16:creationId xmlns:a16="http://schemas.microsoft.com/office/drawing/2014/main" id="{402E0B0F-CA8D-CAD2-5F80-AAE875D23B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1645" y="3340459"/>
            <a:ext cx="4388709" cy="3517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96589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0DA4C-2C2A-91C6-2652-14B045141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B982F-6120-A8D5-5933-896D4383FF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to use Python locally?</a:t>
            </a:r>
          </a:p>
          <a:p>
            <a:pPr marL="0" indent="0">
              <a:buNone/>
            </a:pPr>
            <a:r>
              <a:rPr lang="en-US" dirty="0"/>
              <a:t>You should see something like this: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 descr="A screenshot of a computer showing the Terminal program ">
            <a:extLst>
              <a:ext uri="{FF2B5EF4-FFF2-40B4-BE49-F238E27FC236}">
                <a16:creationId xmlns:a16="http://schemas.microsoft.com/office/drawing/2014/main" id="{788039C3-BC78-FE22-A507-24BDB00703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778" y="3099797"/>
            <a:ext cx="11048152" cy="27078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01882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BFFDC-1CFE-C233-D82D-8B019975A3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5A1D2-49BA-82F0-4B2F-BE0BB5435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AD1E7B-A6EE-28FC-E547-E8F1638105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to use Python locally?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Create a new folder where you will store all your code, for example</a:t>
            </a:r>
          </a:p>
          <a:p>
            <a:pPr marL="0" indent="0" algn="ctr">
              <a:buNone/>
            </a:pPr>
            <a:r>
              <a:rPr lang="en-US" dirty="0"/>
              <a:t>\Documents\</a:t>
            </a:r>
            <a:r>
              <a:rPr lang="en-US" dirty="0" err="1"/>
              <a:t>AIforMovementSciences</a:t>
            </a:r>
            <a:r>
              <a:rPr lang="en-US" dirty="0"/>
              <a:t>\</a:t>
            </a:r>
          </a:p>
          <a:p>
            <a:pPr marL="0" indent="0">
              <a:buNone/>
            </a:pPr>
            <a:r>
              <a:rPr lang="en-US" dirty="0"/>
              <a:t>And navigate to that folder in the terminal window.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Note-&gt; avoid using spaces in the folder’s name, for example, “AI for Movement Sciences” should be avoided and use “</a:t>
            </a:r>
            <a:r>
              <a:rPr lang="en-US" dirty="0" err="1"/>
              <a:t>AIforMovementSciences</a:t>
            </a:r>
            <a:r>
              <a:rPr lang="en-US" dirty="0"/>
              <a:t>” instead. </a:t>
            </a:r>
          </a:p>
        </p:txBody>
      </p:sp>
    </p:spTree>
    <p:extLst>
      <p:ext uri="{BB962C8B-B14F-4D97-AF65-F5344CB8AC3E}">
        <p14:creationId xmlns:p14="http://schemas.microsoft.com/office/powerpoint/2010/main" val="34194990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CDC9D0-D9F5-8B56-1CED-9086C59FB2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13E4A4-8A3A-D056-BEC0-2F1CF10BCF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to use Python locally?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Go to the folder in the Terminal using the ‘cd’ command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 descr="A screenshot of a computer showing the Terminal program ">
            <a:extLst>
              <a:ext uri="{FF2B5EF4-FFF2-40B4-BE49-F238E27FC236}">
                <a16:creationId xmlns:a16="http://schemas.microsoft.com/office/drawing/2014/main" id="{CF4AD89C-39D0-1143-E981-DC09A56357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17" y="3429000"/>
            <a:ext cx="11990565" cy="2576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60365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84FEF-18A1-B4E0-9B57-A671866B72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A181CA-DE4D-CA83-4A91-2EAE7736E0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to use Python locally?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This action will open a new browser window that allows you to create new </a:t>
            </a:r>
            <a:r>
              <a:rPr lang="en-US" dirty="0" err="1"/>
              <a:t>Jupyter</a:t>
            </a:r>
            <a:r>
              <a:rPr lang="en-US" dirty="0"/>
              <a:t> Notebooks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 descr="A screenshot of a computer showing the Jupyter Notebook">
            <a:extLst>
              <a:ext uri="{FF2B5EF4-FFF2-40B4-BE49-F238E27FC236}">
                <a16:creationId xmlns:a16="http://schemas.microsoft.com/office/drawing/2014/main" id="{B742A9E8-251D-B7B5-6452-A7FED08587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599" y="4001294"/>
            <a:ext cx="10980802" cy="1799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10740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60D75-2560-1CEB-0FF2-A0AB03F47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FAE9D-8F31-51F8-88A3-71DED27DBB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9AF6D1-0468-65D6-1006-41519FA851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to use Python locally?</a:t>
            </a:r>
          </a:p>
          <a:p>
            <a:pPr marL="0" indent="0">
              <a:buNone/>
            </a:pPr>
            <a:r>
              <a:rPr lang="en-US" dirty="0"/>
              <a:t>Click on New -&gt; Python 3</a:t>
            </a:r>
          </a:p>
        </p:txBody>
      </p:sp>
      <p:pic>
        <p:nvPicPr>
          <p:cNvPr id="5" name="Picture 4" descr="A screenshot of a computer showing how to create a new Jupyter Notebook">
            <a:extLst>
              <a:ext uri="{FF2B5EF4-FFF2-40B4-BE49-F238E27FC236}">
                <a16:creationId xmlns:a16="http://schemas.microsoft.com/office/drawing/2014/main" id="{231D08BF-7B30-77FA-7C90-2967A53C29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333" y="3024015"/>
            <a:ext cx="11623334" cy="2767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60459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41920-CEC2-BB3F-8000-0B08C47B41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746DEA-FA8D-2D30-C606-A48F9A855D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to use Python locally?</a:t>
            </a:r>
          </a:p>
          <a:p>
            <a:pPr marL="0" indent="0">
              <a:buNone/>
            </a:pPr>
            <a:r>
              <a:rPr lang="en-US" dirty="0"/>
              <a:t>A new browser tab will open with the </a:t>
            </a:r>
            <a:r>
              <a:rPr lang="en-US" dirty="0" err="1"/>
              <a:t>Jupyter</a:t>
            </a:r>
            <a:r>
              <a:rPr lang="en-US" dirty="0"/>
              <a:t> Notebook.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Click on Untitled and adjust the file name, for instance, to Example</a:t>
            </a:r>
          </a:p>
        </p:txBody>
      </p:sp>
      <p:pic>
        <p:nvPicPr>
          <p:cNvPr id="4" name="Picture 3" descr="A screenshot of a computer showing how to rename a Jupyter Notebook">
            <a:extLst>
              <a:ext uri="{FF2B5EF4-FFF2-40B4-BE49-F238E27FC236}">
                <a16:creationId xmlns:a16="http://schemas.microsoft.com/office/drawing/2014/main" id="{330649F7-DE2E-32A6-D167-FD0647C0C1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3160695"/>
            <a:ext cx="7772400" cy="1681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00633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7A29B-F0A3-5B0F-ECC8-07F7F6478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753E-E0C4-C5B0-997D-C0FE74A9D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63D393-8957-4FB2-3B43-2703875319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to use Python locally?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are now ready to start working with Python using </a:t>
            </a:r>
            <a:r>
              <a:rPr lang="en-US" dirty="0" err="1"/>
              <a:t>Jupyter</a:t>
            </a:r>
            <a:r>
              <a:rPr lang="en-US" dirty="0"/>
              <a:t> Notebooks. </a:t>
            </a:r>
          </a:p>
        </p:txBody>
      </p:sp>
      <p:pic>
        <p:nvPicPr>
          <p:cNvPr id="5" name="Picture 4" descr="A screenshot of a computer showing how to use a Jupyter Notebook">
            <a:extLst>
              <a:ext uri="{FF2B5EF4-FFF2-40B4-BE49-F238E27FC236}">
                <a16:creationId xmlns:a16="http://schemas.microsoft.com/office/drawing/2014/main" id="{75621F87-86E2-AEED-4C7A-AD59AC5D58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1486" y="3855560"/>
            <a:ext cx="9749028" cy="2804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6577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24628F-EFF4-B99F-4723-CA5C649EF5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48E86E-99D7-F0A8-217C-9C0A9DBA6C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to use Python locally?</a:t>
            </a:r>
          </a:p>
          <a:p>
            <a:pPr marL="0" indent="0">
              <a:buNone/>
            </a:pPr>
            <a:r>
              <a:rPr lang="en-US" dirty="0"/>
              <a:t>Always shut down your </a:t>
            </a:r>
            <a:r>
              <a:rPr lang="en-US" dirty="0" err="1"/>
              <a:t>Jupyter</a:t>
            </a:r>
            <a:r>
              <a:rPr lang="en-US" dirty="0"/>
              <a:t> Notebooks (especially if you have GPU). </a:t>
            </a:r>
          </a:p>
        </p:txBody>
      </p:sp>
      <p:pic>
        <p:nvPicPr>
          <p:cNvPr id="4" name="Picture 3" descr="A screenshot of a computer showing how to shut down a Jupyter Notebook">
            <a:extLst>
              <a:ext uri="{FF2B5EF4-FFF2-40B4-BE49-F238E27FC236}">
                <a16:creationId xmlns:a16="http://schemas.microsoft.com/office/drawing/2014/main" id="{9772C903-DB48-AD0C-7011-E37E21E31C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9587" y="3101546"/>
            <a:ext cx="6492826" cy="4034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05006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FF61F-A8BA-9047-7D8E-09955AEFC2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5154C3-906B-D2A4-1629-5E5C10FA4C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How to use Python locally?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err="1"/>
              <a:t>Jupyter</a:t>
            </a:r>
            <a:r>
              <a:rPr lang="en-US" dirty="0"/>
              <a:t> Notebooks is an Integrated Development Environment (IDE) that helps you run and visualize your Python code. But they </a:t>
            </a:r>
            <a:r>
              <a:rPr lang="en-US" dirty="0" err="1"/>
              <a:t>Jupyter</a:t>
            </a:r>
            <a:r>
              <a:rPr lang="en-US" dirty="0"/>
              <a:t> Notebook files (.</a:t>
            </a:r>
            <a:r>
              <a:rPr lang="en-US" dirty="0" err="1"/>
              <a:t>ipynb</a:t>
            </a:r>
            <a:r>
              <a:rPr lang="en-US" dirty="0"/>
              <a:t>) are not pure Python.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Most people in data science will use </a:t>
            </a:r>
            <a:r>
              <a:rPr lang="en-US" dirty="0" err="1"/>
              <a:t>Jupyter</a:t>
            </a:r>
            <a:r>
              <a:rPr lang="en-US" dirty="0"/>
              <a:t> Notebooks, so it is easy to share information and code. However, people in other fields won’t know what Notebooks are, and will ask for a Python (.</a:t>
            </a:r>
            <a:r>
              <a:rPr lang="en-US" dirty="0" err="1"/>
              <a:t>py</a:t>
            </a:r>
            <a:r>
              <a:rPr lang="en-US" dirty="0"/>
              <a:t>) file with your code.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70073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2779B-FD5B-1857-3B01-DCD45C039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9B9AB-B68A-2F0A-F491-FE6795A49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146454-0700-C8B0-B5C7-EFD666D9D0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to use Python locally?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Disclaimer:</a:t>
            </a:r>
          </a:p>
          <a:p>
            <a:pPr marL="0" indent="0">
              <a:buNone/>
            </a:pPr>
            <a:r>
              <a:rPr lang="en-US" dirty="0"/>
              <a:t>I personally don’t use </a:t>
            </a:r>
            <a:r>
              <a:rPr lang="en-US" dirty="0" err="1"/>
              <a:t>Jupyter</a:t>
            </a:r>
            <a:r>
              <a:rPr lang="en-US" dirty="0"/>
              <a:t> Notebook directly, rather, I use another IDE called </a:t>
            </a:r>
            <a:r>
              <a:rPr lang="en-US" dirty="0" err="1"/>
              <a:t>VSCode</a:t>
            </a:r>
            <a:r>
              <a:rPr lang="en-US" dirty="0"/>
              <a:t>, which is nicely integrated with many other tools. </a:t>
            </a:r>
          </a:p>
          <a:p>
            <a:pPr marL="0" indent="0">
              <a:buNone/>
            </a:pPr>
            <a:r>
              <a:rPr lang="en-US" dirty="0"/>
              <a:t>You can ‘graduate’ to </a:t>
            </a:r>
            <a:r>
              <a:rPr lang="en-US" dirty="0" err="1"/>
              <a:t>VSCode</a:t>
            </a:r>
            <a:r>
              <a:rPr lang="en-US" dirty="0"/>
              <a:t> once you are comfortable with </a:t>
            </a:r>
            <a:r>
              <a:rPr lang="en-US" dirty="0" err="1"/>
              <a:t>Jupyter</a:t>
            </a:r>
            <a:r>
              <a:rPr lang="en-US" dirty="0"/>
              <a:t> Notebooks.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7732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4561A-0089-6C2A-6C28-E1E69E686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 descr="URL to access Google Colab">
            <a:extLst>
              <a:ext uri="{FF2B5EF4-FFF2-40B4-BE49-F238E27FC236}">
                <a16:creationId xmlns:a16="http://schemas.microsoft.com/office/drawing/2014/main" id="{01271933-8C62-3308-0077-424B510C02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to use Python in the cloud?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 easiest approach is to use Google </a:t>
            </a:r>
            <a:r>
              <a:rPr lang="en-US" dirty="0" err="1"/>
              <a:t>Colab</a:t>
            </a:r>
            <a:r>
              <a:rPr lang="en-US" dirty="0"/>
              <a:t>. It is a free (with limitations) service to run </a:t>
            </a:r>
            <a:r>
              <a:rPr lang="en-US" dirty="0" err="1"/>
              <a:t>Jupyter</a:t>
            </a:r>
            <a:r>
              <a:rPr lang="en-US" dirty="0"/>
              <a:t> Notebooks</a:t>
            </a:r>
          </a:p>
          <a:p>
            <a:pPr marL="0" indent="0">
              <a:buNone/>
            </a:pPr>
            <a:endParaRPr lang="en-US" dirty="0"/>
          </a:p>
          <a:p>
            <a:pPr marL="0" indent="0" algn="ctr">
              <a:buNone/>
            </a:pPr>
            <a:r>
              <a:rPr lang="en-US" b="0" i="0" u="sng" dirty="0">
                <a:solidFill>
                  <a:srgbClr val="0969DA"/>
                </a:solidFill>
                <a:effectLst/>
                <a:latin typeface="system-ui"/>
                <a:hlinkClick r:id="rId2"/>
              </a:rPr>
              <a:t>https://colab.research.google.com/</a:t>
            </a:r>
            <a:endParaRPr lang="en-US" b="0" i="0" u="sng" dirty="0">
              <a:solidFill>
                <a:srgbClr val="0969DA"/>
              </a:solidFill>
              <a:effectLst/>
              <a:latin typeface="system-ui"/>
            </a:endParaRPr>
          </a:p>
          <a:p>
            <a:pPr marL="0" indent="0" algn="ctr">
              <a:buNone/>
            </a:pPr>
            <a:endParaRPr lang="en-US" u="sng" dirty="0">
              <a:solidFill>
                <a:srgbClr val="0969DA"/>
              </a:solidFill>
              <a:latin typeface="system-ui"/>
            </a:endParaRPr>
          </a:p>
          <a:p>
            <a:pPr marL="0" indent="0">
              <a:buNone/>
            </a:pPr>
            <a:r>
              <a:rPr lang="en-US" b="0" i="0" dirty="0">
                <a:effectLst/>
              </a:rPr>
              <a:t>You should be able to complete all this course using Google </a:t>
            </a:r>
            <a:r>
              <a:rPr lang="en-US" b="0" i="0" dirty="0" err="1">
                <a:effectLst/>
              </a:rPr>
              <a:t>Colab</a:t>
            </a:r>
            <a:r>
              <a:rPr lang="en-US" b="0" i="0" dirty="0">
                <a:effectLst/>
              </a:rPr>
              <a:t>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92168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906A7-C244-9E6B-7D3D-292C3F64D9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F44790-FBF3-E0CD-A325-4B3A5C80B0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009937-18F7-D868-B17C-E9AA6BE47C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to use Python in the cloud?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To access YOUR personal Google Drive, you must execute the following code at the beginning of each session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Google </a:t>
            </a:r>
            <a:r>
              <a:rPr lang="en-US" dirty="0" err="1"/>
              <a:t>Colab</a:t>
            </a:r>
            <a:r>
              <a:rPr lang="en-US" dirty="0"/>
              <a:t> Notebooks are shut down automatically after some period of inactivity. Remember to save your progress. </a:t>
            </a:r>
          </a:p>
        </p:txBody>
      </p:sp>
      <p:pic>
        <p:nvPicPr>
          <p:cNvPr id="4" name="Picture 3" descr="A screen shot showing instruction to use Google Colab">
            <a:extLst>
              <a:ext uri="{FF2B5EF4-FFF2-40B4-BE49-F238E27FC236}">
                <a16:creationId xmlns:a16="http://schemas.microsoft.com/office/drawing/2014/main" id="{741900D1-D776-C088-8FCB-33CAFE1B35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700" y="3779289"/>
            <a:ext cx="6070600" cy="111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59851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C7175-20FD-8ACC-E024-9AF6D059C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F6F1E-8C93-7128-9564-80EDF519F1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722370-A9FC-4CA8-1788-657466DA9C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to use Python in the cloud?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Another approach is to use UF’s </a:t>
            </a:r>
            <a:r>
              <a:rPr lang="en-US" dirty="0" err="1"/>
              <a:t>HiperGator</a:t>
            </a:r>
            <a:r>
              <a:rPr lang="en-US" dirty="0"/>
              <a:t>. </a:t>
            </a:r>
          </a:p>
          <a:p>
            <a:pPr marL="0" indent="0">
              <a:buNone/>
            </a:pPr>
            <a:r>
              <a:rPr lang="en-US" dirty="0"/>
              <a:t>There are several tutorials online how to access </a:t>
            </a:r>
            <a:r>
              <a:rPr lang="en-US" dirty="0" err="1"/>
              <a:t>Jupyter</a:t>
            </a:r>
            <a:r>
              <a:rPr lang="en-US" dirty="0"/>
              <a:t> Notebooks using </a:t>
            </a:r>
            <a:r>
              <a:rPr lang="en-US" dirty="0" err="1"/>
              <a:t>HiperGator</a:t>
            </a:r>
            <a:r>
              <a:rPr lang="en-US" dirty="0"/>
              <a:t> so we won’t cover this topic in class. </a:t>
            </a:r>
          </a:p>
        </p:txBody>
      </p:sp>
    </p:spTree>
    <p:extLst>
      <p:ext uri="{BB962C8B-B14F-4D97-AF65-F5344CB8AC3E}">
        <p14:creationId xmlns:p14="http://schemas.microsoft.com/office/powerpoint/2010/main" val="28071024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6990CF-5E05-3E99-F4C1-5FA0612E8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D76CF2-26BD-F31F-C371-C3956D300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 to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CA4DE-ACEC-3A66-25C8-FA48EFE34C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How to use Python in the cloud?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Finally, you can rent a Virtual Machine in AWS or </a:t>
            </a:r>
            <a:r>
              <a:rPr lang="en-US" dirty="0" err="1"/>
              <a:t>GCloud</a:t>
            </a:r>
            <a:r>
              <a:rPr lang="en-US" dirty="0"/>
              <a:t> and have a personal computer in the cloud that you can access via SSH.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can rent a computer with the latest GPUs for a few cents per hour, making this the most cost-effective solution for large scale machine learning projects. </a:t>
            </a:r>
          </a:p>
        </p:txBody>
      </p:sp>
    </p:spTree>
    <p:extLst>
      <p:ext uri="{BB962C8B-B14F-4D97-AF65-F5344CB8AC3E}">
        <p14:creationId xmlns:p14="http://schemas.microsoft.com/office/powerpoint/2010/main" val="29803445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2595</TotalTime>
  <Words>904</Words>
  <Application>Microsoft Macintosh PowerPoint</Application>
  <PresentationFormat>Widescreen</PresentationFormat>
  <Paragraphs>122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Aptos</vt:lpstr>
      <vt:lpstr>Aptos Display</vt:lpstr>
      <vt:lpstr>Arial</vt:lpstr>
      <vt:lpstr>Calibri</vt:lpstr>
      <vt:lpstr>system-ui</vt:lpstr>
      <vt:lpstr>Office Theme</vt:lpstr>
      <vt:lpstr> APK 4720 / APK 6725 AI for Movement Sciences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  <vt:lpstr>Introduction to Python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Guarin, Diego L.</dc:creator>
  <cp:lastModifiedBy>Guarin, Diego L.</cp:lastModifiedBy>
  <cp:revision>3</cp:revision>
  <dcterms:created xsi:type="dcterms:W3CDTF">2025-12-18T16:27:07Z</dcterms:created>
  <dcterms:modified xsi:type="dcterms:W3CDTF">2025-12-20T12:06:44Z</dcterms:modified>
</cp:coreProperties>
</file>