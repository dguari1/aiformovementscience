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7" r:id="rId2"/>
    <p:sldId id="259" r:id="rId3"/>
    <p:sldId id="261" r:id="rId4"/>
    <p:sldId id="298" r:id="rId5"/>
    <p:sldId id="300" r:id="rId6"/>
    <p:sldId id="258" r:id="rId7"/>
    <p:sldId id="301" r:id="rId8"/>
    <p:sldId id="302" r:id="rId9"/>
    <p:sldId id="303" r:id="rId10"/>
    <p:sldId id="304" r:id="rId11"/>
    <p:sldId id="305" r:id="rId12"/>
    <p:sldId id="306" r:id="rId13"/>
    <p:sldId id="315" r:id="rId14"/>
    <p:sldId id="307" r:id="rId15"/>
    <p:sldId id="308" r:id="rId16"/>
    <p:sldId id="309" r:id="rId17"/>
    <p:sldId id="310" r:id="rId18"/>
    <p:sldId id="311" r:id="rId19"/>
    <p:sldId id="312" r:id="rId20"/>
    <p:sldId id="313" r:id="rId21"/>
    <p:sldId id="314" r:id="rId2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143"/>
    <p:restoredTop sz="94719"/>
  </p:normalViewPr>
  <p:slideViewPr>
    <p:cSldViewPr snapToGrid="0">
      <p:cViewPr varScale="1">
        <p:scale>
          <a:sx n="152" d="100"/>
          <a:sy n="152" d="100"/>
        </p:scale>
        <p:origin x="312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586F3C-FAB3-3B4D-B166-AFC318EEF27D}" type="datetimeFigureOut">
              <a:rPr lang="en-US" smtClean="0"/>
              <a:t>8/21/26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9F6B04B-F39E-C14B-A50A-024D76B7D3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03314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9F6B04B-F39E-C14B-A50A-024D76B7D3F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75418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68DF18-04B6-09D1-1035-5430180A81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BA3086-2C3E-FAD9-D2CC-ECBCF6566D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00BE2C-2E65-3CFE-09F9-EB5B041CD2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2C46-7B24-0A4B-830A-B6E25FF6609E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E7DEC0-A615-D09E-4BBE-C9F53B0675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3D5B2A-7266-9A55-7909-7CAD01A998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6347B-A9DB-AA44-9D1E-7690A08148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7935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E6A0B2-8961-AA94-598A-6C68075E26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21D6C57-0147-2DBC-93B1-939775736A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11943B-B3D7-EE84-064E-6F3FC8BEED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2C46-7B24-0A4B-830A-B6E25FF6609E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FE0E7D-4A44-91BE-5A52-E4E5384380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12504D-5555-FD47-27BE-A352A65028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6347B-A9DB-AA44-9D1E-7690A08148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177323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D2FA2E9-C0EE-C627-D7DE-9E74365421C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84F1968-EC48-EBEB-CD21-4D99A0B756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8DB2249-A573-CEDD-CA79-1EE2B7363A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2C46-7B24-0A4B-830A-B6E25FF6609E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148AA5-695A-968E-B111-3170D9220D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19E2544-6DB5-62CC-0ED2-16078F4297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6347B-A9DB-AA44-9D1E-7690A08148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21248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9DB7ED-EDA4-0EEE-9DCF-35CBF6C349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D759ED-A8E2-23E8-594A-DCC5A41E75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DE36999-6668-3B3C-9938-3079B3EFBD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EBD864E-CAFD-2124-D433-43E6EA7558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2C46-7B24-0A4B-830A-B6E25FF6609E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B0D2D6-0C32-BE95-0E51-4610DA2077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1C0C29C-BFBD-F6F3-E166-3C858731D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6347B-A9DB-AA44-9D1E-7690A08148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98373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E147BB-773C-3340-7A87-D46D9F5D51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3C6BC0F-459E-5E23-2074-846DAC2FBCE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977BA23-353C-0AE6-FAA5-65BF587F8E1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DF9652-4209-AE07-9CB8-DFF9C11A044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A0B20FFD-A8C2-3FEE-D2A8-01B468F565A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5B5E405-3C32-D5B1-7A64-CF30D67015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2C46-7B24-0A4B-830A-B6E25FF6609E}" type="datetimeFigureOut">
              <a:rPr lang="en-US" smtClean="0"/>
              <a:t>8/21/26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1C8152-AF85-5AD6-4D29-DD331C133A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1390F2-337A-FB0C-21C7-1811B24BC3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6347B-A9DB-AA44-9D1E-7690A08148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322817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EFD935-0D5F-66E5-3DB8-42B39420AB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FB88F9E-B417-E0A2-9291-4AF9622905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2C46-7B24-0A4B-830A-B6E25FF6609E}" type="datetimeFigureOut">
              <a:rPr lang="en-US" smtClean="0"/>
              <a:t>8/21/26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15DA6F-953A-6F0D-5788-EEF5F1AAA4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C8EAA4-33F9-61DB-C88F-E17E39619A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6347B-A9DB-AA44-9D1E-7690A08148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340194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F794DBD-1DCA-FD8A-98FB-FDD3FD935D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2C46-7B24-0A4B-830A-B6E25FF6609E}" type="datetimeFigureOut">
              <a:rPr lang="en-US" smtClean="0"/>
              <a:t>8/21/26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697E1B-AECD-732D-A59F-D7BC85465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A78A011-E8F4-78A9-7DFA-823B5A0037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6347B-A9DB-AA44-9D1E-7690A08148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63133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DC9F5B-4836-46AD-B70F-A8B3236E05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FE6178-7AB9-B7EA-C0E5-285F219FB73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B1B1970-1AA3-1A8E-B802-09D83BE0B36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4F4C38-24F2-7F79-9A6A-A6D162519C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2C46-7B24-0A4B-830A-B6E25FF6609E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47B7A4-EA96-F535-19F3-CE2E6D88D4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23F4A5-C924-050D-68B7-6EE6C53A78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6347B-A9DB-AA44-9D1E-7690A08148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461614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505F4-0B43-1F68-9AC2-CD4B7F46E0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D2E400-526B-8928-EA04-4F0B2D7D4A4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BC2F3D-BBBD-F1F9-A081-5EC68848120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ECA590-888C-C0A5-2C80-74159160BD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2C46-7B24-0A4B-830A-B6E25FF6609E}" type="datetimeFigureOut">
              <a:rPr lang="en-US" smtClean="0"/>
              <a:t>8/21/26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B7442D-6CAE-8568-6FB8-6A3BD364EB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B7F8EAA-2730-4884-DC3A-5746D4DEF59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6347B-A9DB-AA44-9D1E-7690A08148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39873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BB5194-1981-C610-277F-5FDA0FF25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34A1DC8-EB41-18FD-690D-32CFB7F41B1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E740A0-A49F-FFC8-AD8A-21F281FCDC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2C46-7B24-0A4B-830A-B6E25FF6609E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9B4FF5-E9C9-A3B4-C080-DC0440F6B1A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DDADD-66E6-6412-27A5-375DDA55CE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6347B-A9DB-AA44-9D1E-7690A08148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79780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FE6926AC-3621-45CB-658C-59C343921A9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0862967-05A1-ED33-48C6-E21457B5C57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AA371C-D7B0-290E-80DB-221980F142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D82C46-7B24-0A4B-830A-B6E25FF6609E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1E84D6-2AF1-C39F-75F5-6FC3915B0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1F8CA91-CC16-7790-46CB-DB6E0332A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3B6347B-A9DB-AA44-9D1E-7690A08148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92874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2090A52-F9BC-3287-6CAF-65CBB918762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0B39CE-A1E5-0322-EE6E-EAA517CE44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1D6C7F2-6C4C-727A-E92E-038424F510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D82C46-7B24-0A4B-830A-B6E25FF6609E}" type="datetimeFigureOut">
              <a:rPr lang="en-US" smtClean="0"/>
              <a:t>8/21/26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F73D5C-1547-49D5-0283-B4F6B33FB25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A0EBB9-2D4F-1A06-A431-2ACC236DC52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3B6347B-A9DB-AA44-9D1E-7690A081488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0986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hyperlink" Target="mailto:d.guarinlopez@ufl.edu" TargetMode="Externa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gif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4.jp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e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jpeg"/><Relationship Id="rId5" Type="http://schemas.openxmlformats.org/officeDocument/2006/relationships/image" Target="../media/image12.jpeg"/><Relationship Id="rId4" Type="http://schemas.openxmlformats.org/officeDocument/2006/relationships/image" Target="../media/image11.jpe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D74C35-48BB-223B-B13E-5D12E1A6C5B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91086" y="2490244"/>
            <a:ext cx="10701195" cy="1877511"/>
          </a:xfrm>
        </p:spPr>
        <p:txBody>
          <a:bodyPr>
            <a:normAutofit fontScale="90000"/>
          </a:bodyPr>
          <a:lstStyle/>
          <a:p>
            <a:br>
              <a:rPr lang="en-US" dirty="0">
                <a:effectLst/>
                <a:latin typeface="Calibri" panose="020F0502020204030204" pitchFamily="34" charset="0"/>
              </a:rPr>
            </a:br>
            <a:r>
              <a:rPr lang="en-US" u="sng" dirty="0">
                <a:effectLst/>
                <a:latin typeface="Calibri" panose="020F0502020204030204" pitchFamily="34" charset="0"/>
              </a:rPr>
              <a:t>APK 6725</a:t>
            </a:r>
            <a:br>
              <a:rPr lang="en-US" dirty="0">
                <a:effectLst/>
                <a:latin typeface="Calibri" panose="020F0502020204030204" pitchFamily="34" charset="0"/>
              </a:rPr>
            </a:br>
            <a:r>
              <a:rPr lang="en-US" dirty="0">
                <a:effectLst/>
                <a:latin typeface="Calibri" panose="020F0502020204030204" pitchFamily="34" charset="0"/>
              </a:rPr>
              <a:t>AI for Sports and  Movement Sciences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6BD58E-7C44-C62F-7C44-F73719BC73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51995" y="4738558"/>
            <a:ext cx="8779376" cy="1351722"/>
          </a:xfrm>
        </p:spPr>
        <p:txBody>
          <a:bodyPr>
            <a:normAutofit/>
          </a:bodyPr>
          <a:lstStyle/>
          <a:p>
            <a:pPr algn="l"/>
            <a:r>
              <a:rPr lang="en-US" dirty="0"/>
              <a:t>Time:  Online Class</a:t>
            </a:r>
          </a:p>
          <a:p>
            <a:pPr algn="l"/>
            <a:r>
              <a:rPr lang="en-US" dirty="0"/>
              <a:t>Location: Online Class</a:t>
            </a:r>
          </a:p>
        </p:txBody>
      </p:sp>
      <p:pic>
        <p:nvPicPr>
          <p:cNvPr id="1026" name="Picture 2" descr="University of Florida Logo, symbol, meaning, history, PNG, brand">
            <a:extLst>
              <a:ext uri="{FF2B5EF4-FFF2-40B4-BE49-F238E27FC236}">
                <a16:creationId xmlns:a16="http://schemas.microsoft.com/office/drawing/2014/main" id="{58EAAEF0-DF6C-3FB1-9CE6-FAB6B4AF680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2319" b="32609"/>
          <a:stretch/>
        </p:blipFill>
        <p:spPr bwMode="auto">
          <a:xfrm>
            <a:off x="1" y="5824826"/>
            <a:ext cx="5237018" cy="10331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riangle 6">
            <a:extLst>
              <a:ext uri="{FF2B5EF4-FFF2-40B4-BE49-F238E27FC236}">
                <a16:creationId xmlns:a16="http://schemas.microsoft.com/office/drawing/2014/main" id="{9F3E4CAE-D638-74D6-99C8-B124D9161783}"/>
              </a:ext>
            </a:extLst>
          </p:cNvPr>
          <p:cNvSpPr/>
          <p:nvPr/>
        </p:nvSpPr>
        <p:spPr>
          <a:xfrm rot="-2700000">
            <a:off x="9825790" y="4485310"/>
            <a:ext cx="2743200" cy="2743200"/>
          </a:xfrm>
          <a:prstGeom prst="triangle">
            <a:avLst/>
          </a:prstGeom>
          <a:solidFill>
            <a:schemeClr val="bg2">
              <a:alpha val="5969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pic>
        <p:nvPicPr>
          <p:cNvPr id="1028" name="Picture 4" descr="BeneScholar™ Tuition Discounts">
            <a:extLst>
              <a:ext uri="{FF2B5EF4-FFF2-40B4-BE49-F238E27FC236}">
                <a16:creationId xmlns:a16="http://schemas.microsoft.com/office/drawing/2014/main" id="{C3FF1229-1165-87C8-E022-95D94B7F16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572000" y="-1363"/>
            <a:ext cx="7620000" cy="10541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Rectangle 5">
            <a:extLst>
              <a:ext uri="{FF2B5EF4-FFF2-40B4-BE49-F238E27FC236}">
                <a16:creationId xmlns:a16="http://schemas.microsoft.com/office/drawing/2014/main" id="{2DCF2DAD-8CAD-D82C-9823-A41E5C8DD594}"/>
              </a:ext>
            </a:extLst>
          </p:cNvPr>
          <p:cNvSpPr/>
          <p:nvPr/>
        </p:nvSpPr>
        <p:spPr>
          <a:xfrm>
            <a:off x="994612" y="1227221"/>
            <a:ext cx="10202778" cy="4508416"/>
          </a:xfrm>
          <a:prstGeom prst="rect">
            <a:avLst/>
          </a:prstGeom>
          <a:noFill/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241597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AC46A-95F3-53D7-05FC-99CB0CFC1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  <a:latin typeface="Calibri" panose="020F0502020204030204" pitchFamily="34" charset="0"/>
              </a:rPr>
              <a:t>APK 6725 – Instructor</a:t>
            </a:r>
            <a:r>
              <a:rPr lang="en-US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4FA293-B8BE-6EF3-608D-0C270BC36D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0945969" cy="4351338"/>
          </a:xfrm>
        </p:spPr>
        <p:txBody>
          <a:bodyPr/>
          <a:lstStyle/>
          <a:p>
            <a:pPr marL="0" indent="0" algn="ctr">
              <a:buNone/>
            </a:pPr>
            <a:r>
              <a:rPr lang="en-US" sz="4000" u="sng" dirty="0"/>
              <a:t>Diego L. </a:t>
            </a:r>
            <a:r>
              <a:rPr lang="en-US" sz="4000" u="sng" dirty="0" err="1"/>
              <a:t>Guarín</a:t>
            </a:r>
            <a:r>
              <a:rPr lang="en-US" sz="4000" u="sng" dirty="0"/>
              <a:t>, Ph.D.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Email: </a:t>
            </a:r>
            <a:r>
              <a:rPr lang="en-US" dirty="0">
                <a:hlinkClick r:id="rId2"/>
              </a:rPr>
              <a:t>d.guarinlopez@ufl.edu</a:t>
            </a:r>
            <a:endParaRPr lang="en-US" dirty="0"/>
          </a:p>
          <a:p>
            <a:pPr marL="0" indent="0">
              <a:buNone/>
            </a:pPr>
            <a:r>
              <a:rPr lang="en-US" dirty="0"/>
              <a:t>Office: FLG 139</a:t>
            </a:r>
          </a:p>
          <a:p>
            <a:pPr marL="0" indent="0">
              <a:buNone/>
            </a:pPr>
            <a:r>
              <a:rPr lang="en-US" dirty="0"/>
              <a:t>Office Hours: Monday 2:00 </a:t>
            </a:r>
            <a:r>
              <a:rPr lang="en-US"/>
              <a:t>– 5:00 </a:t>
            </a:r>
            <a:r>
              <a:rPr lang="en-US" dirty="0"/>
              <a:t>PM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If this time doesn’t work for you, please send me an email </a:t>
            </a:r>
            <a:r>
              <a:rPr lang="en-US" dirty="0">
                <a:sym typeface="Wingdings" pitchFamily="2" charset="2"/>
              </a:rPr>
              <a:t>to find a suitable time. 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35434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3AC46A-95F3-53D7-05FC-99CB0CFC15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  <a:latin typeface="Calibri" panose="020F0502020204030204" pitchFamily="34" charset="0"/>
              </a:rPr>
              <a:t>APK 6725 – Instructor </a:t>
            </a:r>
            <a:r>
              <a:rPr lang="en-US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C4FA293-B8BE-6EF3-608D-0C270BC36D1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 algn="ctr">
              <a:buNone/>
            </a:pPr>
            <a:r>
              <a:rPr lang="en-US" sz="4000" u="sng" dirty="0"/>
              <a:t>Diego L. </a:t>
            </a:r>
            <a:r>
              <a:rPr lang="en-US" sz="4000" u="sng" dirty="0" err="1"/>
              <a:t>Guarín</a:t>
            </a:r>
            <a:r>
              <a:rPr lang="en-US" sz="4000" u="sng" dirty="0"/>
              <a:t>, Ph.D.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5" name="Table 5">
            <a:extLst>
              <a:ext uri="{FF2B5EF4-FFF2-40B4-BE49-F238E27FC236}">
                <a16:creationId xmlns:a16="http://schemas.microsoft.com/office/drawing/2014/main" id="{928D9C69-4BCA-1D47-AA27-8F540AC9E01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37168281"/>
              </p:ext>
            </p:extLst>
          </p:nvPr>
        </p:nvGraphicFramePr>
        <p:xfrm>
          <a:off x="689810" y="3111500"/>
          <a:ext cx="10812380" cy="265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68027">
                  <a:extLst>
                    <a:ext uri="{9D8B030D-6E8A-4147-A177-3AD203B41FA5}">
                      <a16:colId xmlns:a16="http://schemas.microsoft.com/office/drawing/2014/main" val="2543466089"/>
                    </a:ext>
                  </a:extLst>
                </a:gridCol>
                <a:gridCol w="4810466">
                  <a:extLst>
                    <a:ext uri="{9D8B030D-6E8A-4147-A177-3AD203B41FA5}">
                      <a16:colId xmlns:a16="http://schemas.microsoft.com/office/drawing/2014/main" val="5942124"/>
                    </a:ext>
                  </a:extLst>
                </a:gridCol>
                <a:gridCol w="4333887">
                  <a:extLst>
                    <a:ext uri="{9D8B030D-6E8A-4147-A177-3AD203B41FA5}">
                      <a16:colId xmlns:a16="http://schemas.microsoft.com/office/drawing/2014/main" val="159515714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2014-2017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Ph.D. in Biomedical Engineering 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McGill University 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910801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2017-2019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Postdoc – Electrophysiology 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Harvard Medical School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00595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2019-2020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Postdoc – AI + neurological disorders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University of Toronto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844237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2020-2022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Assistant Professor, BME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Florida Institute of Technology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11650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2022-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Assistant Professor, APK</a:t>
                      </a:r>
                    </a:p>
                  </a:txBody>
                  <a:tcP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2400" b="1" dirty="0">
                          <a:solidFill>
                            <a:schemeClr val="tx1"/>
                          </a:solidFill>
                        </a:rPr>
                        <a:t>University of Florida</a:t>
                      </a:r>
                    </a:p>
                  </a:txBody>
                  <a:tcP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444651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08575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63A729-AFEF-5445-E040-0F0D5334E6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449C9D-6123-5E29-A56E-964AF810FF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  <a:latin typeface="Calibri" panose="020F0502020204030204" pitchFamily="34" charset="0"/>
              </a:rPr>
              <a:t>APK 6725 – Instructor </a:t>
            </a:r>
            <a:r>
              <a:rPr lang="en-US" dirty="0"/>
              <a:t>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62D344-9592-AAB3-F808-25DD7B2F3A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r>
              <a:rPr lang="en-US" sz="4000" u="sng" dirty="0"/>
              <a:t>Diego L. </a:t>
            </a:r>
            <a:r>
              <a:rPr lang="en-US" sz="4000" u="sng" dirty="0" err="1"/>
              <a:t>Guarín</a:t>
            </a:r>
            <a:r>
              <a:rPr lang="en-US" sz="4000" u="sng" dirty="0"/>
              <a:t>, Ph.D.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- Published 60+ research articles in journals as NPJ Parkinson’s Disease, Parkinsonism &amp; Related Disorders, IEEE Transactions on Neural Systems and Rehabilitation Eng, IEEE Journal of Biomedical Health Informatics.</a:t>
            </a:r>
          </a:p>
          <a:p>
            <a:pPr>
              <a:buFontTx/>
              <a:buChar char="-"/>
            </a:pPr>
            <a:r>
              <a:rPr lang="en-US" dirty="0"/>
              <a:t>Received  over 1100+ citations so far 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Main areas of research include Motor Control, Neuromuscular Disorders,  Movement Quantification via Digital Technologies, Home-Based monitoring, and Application of Machine Learning to Health. </a:t>
            </a:r>
          </a:p>
        </p:txBody>
      </p:sp>
    </p:spTree>
    <p:extLst>
      <p:ext uri="{BB962C8B-B14F-4D97-AF65-F5344CB8AC3E}">
        <p14:creationId xmlns:p14="http://schemas.microsoft.com/office/powerpoint/2010/main" val="34223708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CC4DDE-656C-4607-E293-71F47666EE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  <a:latin typeface="Calibri" panose="020F0502020204030204" pitchFamily="34" charset="0"/>
              </a:rPr>
              <a:t>APK 6725 – Why?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53B62E-5252-8B10-9A76-7E705BD39B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Technology has been pivotal for analysis of movement.  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2050" name="Picture 2" descr="frames of person riding a horse. Images captured in 1878 with an early camera model . ">
            <a:extLst>
              <a:ext uri="{FF2B5EF4-FFF2-40B4-BE49-F238E27FC236}">
                <a16:creationId xmlns:a16="http://schemas.microsoft.com/office/drawing/2014/main" id="{8BAB54C0-D9A6-D4E5-6EE6-3B758C0840F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594739" y="2792905"/>
            <a:ext cx="5002521" cy="338405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4219470-B350-F13F-9556-926DA0A73F40}"/>
              </a:ext>
            </a:extLst>
          </p:cNvPr>
          <p:cNvSpPr txBox="1"/>
          <p:nvPr/>
        </p:nvSpPr>
        <p:spPr>
          <a:xfrm>
            <a:off x="4715172" y="6308209"/>
            <a:ext cx="2761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The Horse in Motion, 1878</a:t>
            </a:r>
          </a:p>
        </p:txBody>
      </p:sp>
    </p:spTree>
    <p:extLst>
      <p:ext uri="{BB962C8B-B14F-4D97-AF65-F5344CB8AC3E}">
        <p14:creationId xmlns:p14="http://schemas.microsoft.com/office/powerpoint/2010/main" val="174260901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Content Placeholder 6" descr="A person jumping in the air, movement captured via Motion Capture System. &#10;">
            <a:extLst>
              <a:ext uri="{FF2B5EF4-FFF2-40B4-BE49-F238E27FC236}">
                <a16:creationId xmlns:a16="http://schemas.microsoft.com/office/drawing/2014/main" id="{437DF998-8D4C-B6CB-098E-225F22F7665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4206" t="5687" r="28624" b="25218"/>
          <a:stretch/>
        </p:blipFill>
        <p:spPr>
          <a:xfrm>
            <a:off x="349511" y="3521142"/>
            <a:ext cx="3963114" cy="3197157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25FF8095-454E-1D26-2A46-8803204535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  <a:latin typeface="Calibri" panose="020F0502020204030204" pitchFamily="34" charset="0"/>
              </a:rPr>
              <a:t>APK 6725 – Why?</a:t>
            </a:r>
            <a:endParaRPr lang="en-US" dirty="0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711E131-FF05-D410-49CA-7A2DB7CD458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63725"/>
            <a:ext cx="10515600" cy="4351338"/>
          </a:xfrm>
        </p:spPr>
        <p:txBody>
          <a:bodyPr/>
          <a:lstStyle/>
          <a:p>
            <a:pPr marL="0" indent="0">
              <a:buNone/>
            </a:pPr>
            <a:r>
              <a:rPr lang="en-US" dirty="0"/>
              <a:t>Modern technologies allow us to capture movement with high accuracy and  flexibility.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9B408807-2311-F0A3-E911-5B9B9AFFEA95}"/>
              </a:ext>
            </a:extLst>
          </p:cNvPr>
          <p:cNvSpPr txBox="1"/>
          <p:nvPr/>
        </p:nvSpPr>
        <p:spPr>
          <a:xfrm>
            <a:off x="1462849" y="3059668"/>
            <a:ext cx="173643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Motion Capture</a:t>
            </a:r>
          </a:p>
        </p:txBody>
      </p:sp>
      <p:pic>
        <p:nvPicPr>
          <p:cNvPr id="3074" name="Picture 2" descr="Person playing a sport, movement capture using Noraxon Ultium Motion 3D Capture System">
            <a:extLst>
              <a:ext uri="{FF2B5EF4-FFF2-40B4-BE49-F238E27FC236}">
                <a16:creationId xmlns:a16="http://schemas.microsoft.com/office/drawing/2014/main" id="{2778D9C0-D928-7016-B90A-BDBE9BCAA38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56" t="22679" r="16667" b="6212"/>
          <a:stretch/>
        </p:blipFill>
        <p:spPr bwMode="auto">
          <a:xfrm>
            <a:off x="4952999" y="3521142"/>
            <a:ext cx="2764139" cy="3197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215ED99E-190D-A2B7-B92B-A57AB782E321}"/>
              </a:ext>
            </a:extLst>
          </p:cNvPr>
          <p:cNvSpPr txBox="1"/>
          <p:nvPr/>
        </p:nvSpPr>
        <p:spPr>
          <a:xfrm>
            <a:off x="5382704" y="3059668"/>
            <a:ext cx="19843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Wearable Sensors</a:t>
            </a:r>
          </a:p>
        </p:txBody>
      </p:sp>
      <p:pic>
        <p:nvPicPr>
          <p:cNvPr id="3076" name="Picture 4" descr="A person walking, motion capture using a markerless Motion Capture System.">
            <a:extLst>
              <a:ext uri="{FF2B5EF4-FFF2-40B4-BE49-F238E27FC236}">
                <a16:creationId xmlns:a16="http://schemas.microsoft.com/office/drawing/2014/main" id="{B1BF3323-0B9C-40DA-A9C6-ECC67A72E3B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000" r="30166" b="7397"/>
          <a:stretch/>
        </p:blipFill>
        <p:spPr bwMode="auto">
          <a:xfrm>
            <a:off x="8357512" y="3521142"/>
            <a:ext cx="3728314" cy="319715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C1314B3E-06F6-FA71-A562-5C2778536EA0}"/>
              </a:ext>
            </a:extLst>
          </p:cNvPr>
          <p:cNvSpPr txBox="1"/>
          <p:nvPr/>
        </p:nvSpPr>
        <p:spPr>
          <a:xfrm>
            <a:off x="8693246" y="3059668"/>
            <a:ext cx="292355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Markerless</a:t>
            </a:r>
            <a:r>
              <a:rPr lang="en-US" dirty="0"/>
              <a:t> Motion Capture</a:t>
            </a:r>
          </a:p>
        </p:txBody>
      </p:sp>
    </p:spTree>
    <p:extLst>
      <p:ext uri="{BB962C8B-B14F-4D97-AF65-F5344CB8AC3E}">
        <p14:creationId xmlns:p14="http://schemas.microsoft.com/office/powerpoint/2010/main" val="19637561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04B183-C4D1-6B0C-CEFB-67C0AD955C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  <a:latin typeface="Calibri" panose="020F0502020204030204" pitchFamily="34" charset="0"/>
              </a:rPr>
              <a:t>APK 6725 – Why?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83E863-9A25-EBEA-02FF-1D9A281030B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410200" cy="48828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Movement data analysis has many applications, including:</a:t>
            </a:r>
          </a:p>
          <a:p>
            <a:pPr>
              <a:buFontTx/>
              <a:buChar char="-"/>
            </a:pPr>
            <a:r>
              <a:rPr lang="en-US" dirty="0"/>
              <a:t>Performance assessment and enhancement </a:t>
            </a:r>
          </a:p>
          <a:p>
            <a:pPr>
              <a:buFontTx/>
              <a:buChar char="-"/>
            </a:pPr>
            <a:r>
              <a:rPr lang="en-US" dirty="0"/>
              <a:t>Injury risk assessment and prevention</a:t>
            </a:r>
          </a:p>
          <a:p>
            <a:pPr>
              <a:buFontTx/>
              <a:buChar char="-"/>
            </a:pPr>
            <a:r>
              <a:rPr lang="en-US" dirty="0"/>
              <a:t>Disease diagnosis</a:t>
            </a:r>
          </a:p>
          <a:p>
            <a:pPr>
              <a:buFontTx/>
              <a:buChar char="-"/>
            </a:pPr>
            <a:r>
              <a:rPr lang="en-US" dirty="0"/>
              <a:t>Rehabilitation optimization and evaluation</a:t>
            </a:r>
          </a:p>
          <a:p>
            <a:pPr>
              <a:buFontTx/>
              <a:buChar char="-"/>
            </a:pPr>
            <a:r>
              <a:rPr lang="en-US" dirty="0"/>
              <a:t>Rehabilitation feedback </a:t>
            </a:r>
          </a:p>
          <a:p>
            <a:pPr>
              <a:buFontTx/>
              <a:buChar char="-"/>
            </a:pPr>
            <a:endParaRPr lang="en-US" dirty="0"/>
          </a:p>
        </p:txBody>
      </p:sp>
      <p:pic>
        <p:nvPicPr>
          <p:cNvPr id="4098" name="Picture 2" descr="Swing phase running biomechanics">
            <a:extLst>
              <a:ext uri="{FF2B5EF4-FFF2-40B4-BE49-F238E27FC236}">
                <a16:creationId xmlns:a16="http://schemas.microsoft.com/office/drawing/2014/main" id="{0076A169-E715-025F-CC13-F946F863487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643"/>
          <a:stretch/>
        </p:blipFill>
        <p:spPr bwMode="auto">
          <a:xfrm>
            <a:off x="6096000" y="2392363"/>
            <a:ext cx="3371935" cy="36909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100" name="Picture 4" descr="hip, knee, and ankle angles during gait cycle. ">
            <a:extLst>
              <a:ext uri="{FF2B5EF4-FFF2-40B4-BE49-F238E27FC236}">
                <a16:creationId xmlns:a16="http://schemas.microsoft.com/office/drawing/2014/main" id="{8E06E444-BAE3-A3B1-CB20-83BA8146723E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787"/>
          <a:stretch/>
        </p:blipFill>
        <p:spPr bwMode="auto">
          <a:xfrm>
            <a:off x="8824998" y="1917700"/>
            <a:ext cx="3367002" cy="45116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91483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014BC4F-689B-6646-D69F-9C4952AE1A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  <a:latin typeface="Calibri" panose="020F0502020204030204" pitchFamily="34" charset="0"/>
              </a:rPr>
              <a:t>APK 6725 – Learning Objectives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179273-9563-07E7-E843-4F3DCEED648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In this class, you will</a:t>
            </a:r>
          </a:p>
          <a:p>
            <a:pPr>
              <a:buFontTx/>
              <a:buChar char="-"/>
            </a:pPr>
            <a:r>
              <a:rPr lang="en-US" dirty="0"/>
              <a:t>Learn basic tools for movement analysis </a:t>
            </a:r>
          </a:p>
          <a:p>
            <a:pPr lvl="1">
              <a:buFontTx/>
              <a:buChar char="-"/>
            </a:pPr>
            <a:r>
              <a:rPr lang="en-US" dirty="0"/>
              <a:t>Python programming </a:t>
            </a:r>
          </a:p>
          <a:p>
            <a:pPr lvl="1">
              <a:buFontTx/>
              <a:buChar char="-"/>
            </a:pPr>
            <a:r>
              <a:rPr lang="en-US" dirty="0"/>
              <a:t>Data handling (NumPy and Pandas)</a:t>
            </a:r>
          </a:p>
          <a:p>
            <a:pPr lvl="1">
              <a:buFontTx/>
              <a:buChar char="-"/>
            </a:pPr>
            <a:r>
              <a:rPr lang="en-US" dirty="0"/>
              <a:t>Data Visualization (Matplotlib/Seaborn)</a:t>
            </a:r>
          </a:p>
          <a:p>
            <a:pPr lvl="1">
              <a:buFontTx/>
              <a:buChar char="-"/>
            </a:pPr>
            <a:r>
              <a:rPr lang="en-US" dirty="0"/>
              <a:t>Machine learning and Deep learning </a:t>
            </a:r>
          </a:p>
          <a:p>
            <a:pPr>
              <a:buFontTx/>
              <a:buChar char="-"/>
            </a:pPr>
            <a:r>
              <a:rPr lang="en-US" dirty="0"/>
              <a:t>Learn to capture and analyze movement data</a:t>
            </a:r>
          </a:p>
          <a:p>
            <a:pPr>
              <a:buFontTx/>
              <a:buChar char="-"/>
            </a:pPr>
            <a:r>
              <a:rPr lang="en-US" dirty="0"/>
              <a:t>Learn to analyze and interpret movement data in healthy and disease populations</a:t>
            </a:r>
          </a:p>
        </p:txBody>
      </p:sp>
    </p:spTree>
    <p:extLst>
      <p:ext uri="{BB962C8B-B14F-4D97-AF65-F5344CB8AC3E}">
        <p14:creationId xmlns:p14="http://schemas.microsoft.com/office/powerpoint/2010/main" val="364256503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2B2E13-778C-72AF-2382-8A8809675F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  <a:latin typeface="Calibri" panose="020F0502020204030204" pitchFamily="34" charset="0"/>
              </a:rPr>
              <a:t>APK 6725 – Books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927061C-6EB1-465E-EDEB-3B00ACB29B0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This class doesn’t have required books. All the material discussed in class can be found online for free. </a:t>
            </a:r>
          </a:p>
          <a:p>
            <a:pPr marL="0" indent="0">
              <a:buNone/>
            </a:pPr>
            <a:r>
              <a:rPr lang="en-US" dirty="0"/>
              <a:t>Some books I used when creating this class include:</a:t>
            </a:r>
          </a:p>
          <a:p>
            <a:pPr marL="0" indent="0">
              <a:buNone/>
            </a:pPr>
            <a:r>
              <a:rPr lang="en-US" dirty="0"/>
              <a:t> </a:t>
            </a:r>
          </a:p>
        </p:txBody>
      </p:sp>
      <p:pic>
        <p:nvPicPr>
          <p:cNvPr id="5122" name="Picture 2" descr="Python Data Science Handbook">
            <a:extLst>
              <a:ext uri="{FF2B5EF4-FFF2-40B4-BE49-F238E27FC236}">
                <a16:creationId xmlns:a16="http://schemas.microsoft.com/office/drawing/2014/main" id="{7A2BDD8E-88CF-8EF4-A0A9-37403E2E0AD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75972" y="3429000"/>
            <a:ext cx="2400300" cy="3168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Python Crash Course, 2nd Edition: A Hands-On, Project-Based Introduction to  Programming: Matthes, Eric: 9781593279288: Amazon.com: Books">
            <a:extLst>
              <a:ext uri="{FF2B5EF4-FFF2-40B4-BE49-F238E27FC236}">
                <a16:creationId xmlns:a16="http://schemas.microsoft.com/office/drawing/2014/main" id="{92AAE960-B62D-4310-8107-FBC10989E3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193" y="3429000"/>
            <a:ext cx="2398492" cy="3168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6" name="Picture 6" descr="Machine Learning with PyTorch and Scikit-Learn">
            <a:extLst>
              <a:ext uri="{FF2B5EF4-FFF2-40B4-BE49-F238E27FC236}">
                <a16:creationId xmlns:a16="http://schemas.microsoft.com/office/drawing/2014/main" id="{7F2C13CE-25BF-FF46-CAFA-DBC7436D658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22606" y="3429000"/>
            <a:ext cx="2569394" cy="31686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8" name="Picture 8" descr="Biomechanics and Motor Control of Human Movement: Winter, David A:  9780470398180: Amazon.com: Books">
            <a:extLst>
              <a:ext uri="{FF2B5EF4-FFF2-40B4-BE49-F238E27FC236}">
                <a16:creationId xmlns:a16="http://schemas.microsoft.com/office/drawing/2014/main" id="{FEBA0599-F735-523A-87A6-4C47F92D2BE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9774" y="3368675"/>
            <a:ext cx="2048960" cy="32893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30" name="Picture 10" descr="Biomechanics of Movement: The Science of Sports, Robotics, and  Rehabilitation: 9780253330581: Medicine &amp; Health Science Books @ Amazon.com">
            <a:extLst>
              <a:ext uri="{FF2B5EF4-FFF2-40B4-BE49-F238E27FC236}">
                <a16:creationId xmlns:a16="http://schemas.microsoft.com/office/drawing/2014/main" id="{BA0EFD99-06A5-16CA-1563-2D14D74B1D0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342" r="5792"/>
          <a:stretch/>
        </p:blipFill>
        <p:spPr bwMode="auto">
          <a:xfrm>
            <a:off x="2182656" y="3398838"/>
            <a:ext cx="2569394" cy="3228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3281505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75E759-F59C-9A9E-7B5A-D5EA1DC3DB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  <a:latin typeface="Calibri" panose="020F0502020204030204" pitchFamily="34" charset="0"/>
              </a:rPr>
              <a:t>APK 6725 - Grading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8F986C-C4D1-5D70-7FB1-360CF24C219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/>
          </a:p>
        </p:txBody>
      </p:sp>
      <p:graphicFrame>
        <p:nvGraphicFramePr>
          <p:cNvPr id="4" name="Content Placeholder 3">
            <a:extLst>
              <a:ext uri="{FF2B5EF4-FFF2-40B4-BE49-F238E27FC236}">
                <a16:creationId xmlns:a16="http://schemas.microsoft.com/office/drawing/2014/main" id="{4840F883-F7F8-3773-201F-DC5754D19E0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286757485"/>
              </p:ext>
            </p:extLst>
          </p:nvPr>
        </p:nvGraphicFramePr>
        <p:xfrm>
          <a:off x="946404" y="3051492"/>
          <a:ext cx="10299192" cy="1899603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09987">
                  <a:extLst>
                    <a:ext uri="{9D8B030D-6E8A-4147-A177-3AD203B41FA5}">
                      <a16:colId xmlns:a16="http://schemas.microsoft.com/office/drawing/2014/main" val="1248094077"/>
                    </a:ext>
                  </a:extLst>
                </a:gridCol>
                <a:gridCol w="4557543">
                  <a:extLst>
                    <a:ext uri="{9D8B030D-6E8A-4147-A177-3AD203B41FA5}">
                      <a16:colId xmlns:a16="http://schemas.microsoft.com/office/drawing/2014/main" val="1547336617"/>
                    </a:ext>
                  </a:extLst>
                </a:gridCol>
                <a:gridCol w="2231662">
                  <a:extLst>
                    <a:ext uri="{9D8B030D-6E8A-4147-A177-3AD203B41FA5}">
                      <a16:colId xmlns:a16="http://schemas.microsoft.com/office/drawing/2014/main" val="1776663760"/>
                    </a:ext>
                  </a:extLst>
                </a:gridCol>
              </a:tblGrid>
              <a:tr h="608045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</a:rPr>
                        <a:t>Evaluation Components </a:t>
                      </a:r>
                    </a:p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</a:rPr>
                        <a:t>(number of each)</a:t>
                      </a:r>
                      <a:endParaRPr lang="en-U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</a:rPr>
                        <a:t>Points Per Component</a:t>
                      </a:r>
                      <a:endParaRPr lang="en-U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</a:rPr>
                        <a:t>% of Total Grade</a:t>
                      </a:r>
                      <a:endParaRPr lang="en-U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836749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</a:rPr>
                        <a:t>  Assignments (x 10)</a:t>
                      </a:r>
                      <a:endParaRPr lang="en-U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</a:rPr>
                        <a:t>5 pts each = 50 pts</a:t>
                      </a:r>
                      <a:endParaRPr lang="en-U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</a:rPr>
                        <a:t>50/100 = 50%</a:t>
                      </a:r>
                      <a:endParaRPr lang="en-U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30942855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</a:rPr>
                        <a:t>  Group Presentation (x1)</a:t>
                      </a:r>
                      <a:endParaRPr lang="en-U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</a:rPr>
                        <a:t>20 pts each = 20 pts</a:t>
                      </a:r>
                      <a:endParaRPr lang="en-U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</a:rPr>
                        <a:t>20/100 = 20%</a:t>
                      </a:r>
                      <a:endParaRPr lang="en-U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484272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</a:rPr>
                        <a:t>  Final Project Report (x1)</a:t>
                      </a:r>
                      <a:endParaRPr lang="en-U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</a:rPr>
                        <a:t>30 pts each = 30 pts</a:t>
                      </a:r>
                      <a:endParaRPr lang="en-U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noFill/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7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lang="en-US" sz="2400" dirty="0">
                          <a:effectLst/>
                        </a:rPr>
                        <a:t>30/100 = 30%</a:t>
                      </a:r>
                      <a:endParaRPr lang="en-US" sz="2400" dirty="0">
                        <a:effectLst/>
                        <a:latin typeface="Calibri" panose="020F0502020204030204" pitchFamily="34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80295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855748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92F79C8-4FF4-B360-BD11-8CC8C6B72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729E95-EE87-4E4B-9663-2757680C22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  <a:latin typeface="Calibri" panose="020F0502020204030204" pitchFamily="34" charset="0"/>
              </a:rPr>
              <a:t>APK 6725 - Grading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F98CF3-4292-4AAF-897E-6C70A687C3C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>
                <a:effectLst/>
              </a:rPr>
              <a:t>Assignments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There will be 10 assignments distributed throughout the term. </a:t>
            </a:r>
          </a:p>
          <a:p>
            <a:pPr marL="0" indent="0">
              <a:buNone/>
            </a:pPr>
            <a:r>
              <a:rPr lang="en-US" dirty="0"/>
              <a:t>Working with your peers is highly encouraged. That said, each class member must submit an </a:t>
            </a:r>
            <a:r>
              <a:rPr lang="en-US" i="1" dirty="0"/>
              <a:t>individual </a:t>
            </a:r>
            <a:r>
              <a:rPr lang="en-US" dirty="0"/>
              <a:t>assignment via canvas. </a:t>
            </a:r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r>
              <a:rPr lang="en-US" i="1" dirty="0"/>
              <a:t>If you worked with someone, please let me know in the assignment. </a:t>
            </a:r>
          </a:p>
        </p:txBody>
      </p:sp>
    </p:spTree>
    <p:extLst>
      <p:ext uri="{BB962C8B-B14F-4D97-AF65-F5344CB8AC3E}">
        <p14:creationId xmlns:p14="http://schemas.microsoft.com/office/powerpoint/2010/main" val="165527530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86447D-BA4B-2A40-8A07-F8B6CFEA53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D07B3F-5772-CBE3-915A-AFFC68F3F4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  <a:latin typeface="Calibri" panose="020F0502020204030204" pitchFamily="34" charset="0"/>
              </a:rPr>
              <a:t>APK 6725 - Grading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4712C41-AAD7-AE4B-C92D-355F99E9C0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>
                <a:effectLst/>
              </a:rPr>
              <a:t>Project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Students must work in a group (of two to four people) to design and develop a project reflecting the knowledge/methodologies learned in class. </a:t>
            </a:r>
          </a:p>
          <a:p>
            <a:pPr marL="0" indent="0">
              <a:buNone/>
            </a:pPr>
            <a:endParaRPr lang="en-US" i="1" dirty="0"/>
          </a:p>
          <a:p>
            <a:pPr marL="0" indent="0">
              <a:buNone/>
            </a:pPr>
            <a:r>
              <a:rPr lang="en-US" dirty="0"/>
              <a:t>In this project, students must select a dataset (or record your own data) and apply appropriate data analysis techniques to make sense of the data an extract useful information. </a:t>
            </a:r>
          </a:p>
        </p:txBody>
      </p:sp>
    </p:spTree>
    <p:extLst>
      <p:ext uri="{BB962C8B-B14F-4D97-AF65-F5344CB8AC3E}">
        <p14:creationId xmlns:p14="http://schemas.microsoft.com/office/powerpoint/2010/main" val="25161533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FFD357-148E-C1C3-B05D-A2EF42E53E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E4D204-043C-5656-865C-78BCB0708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  <a:latin typeface="Calibri" panose="020F0502020204030204" pitchFamily="34" charset="0"/>
              </a:rPr>
              <a:t>APK 6725 - Grading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2E335AE-EE81-000D-35FB-AE8FE5DF235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>
                <a:effectLst/>
              </a:rPr>
              <a:t>Project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A dataset will be provided for the project with specific objectives (more to come).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You can either complete the suggested project or select your own project. That said, review the suggested project to understand the expectations and required effort. </a:t>
            </a:r>
          </a:p>
        </p:txBody>
      </p:sp>
    </p:spTree>
    <p:extLst>
      <p:ext uri="{BB962C8B-B14F-4D97-AF65-F5344CB8AC3E}">
        <p14:creationId xmlns:p14="http://schemas.microsoft.com/office/powerpoint/2010/main" val="3935083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F401E4-AE72-4763-45B0-FA66543F7D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A6755BA-D7E7-FC97-94C4-01AD86580E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  <a:latin typeface="Calibri" panose="020F0502020204030204" pitchFamily="34" charset="0"/>
              </a:rPr>
              <a:t>APK 6725 - Grading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4AF0C0-E821-E109-E17F-0FDE6CB3F7F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US" sz="2800" dirty="0">
                <a:effectLst/>
              </a:rPr>
              <a:t>Project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Potential ideas for projects include:</a:t>
            </a:r>
          </a:p>
          <a:p>
            <a:pPr>
              <a:buFontTx/>
              <a:buChar char="-"/>
            </a:pPr>
            <a:r>
              <a:rPr lang="en-US" dirty="0"/>
              <a:t>Replicate results from a published paper (highly encouraged).</a:t>
            </a:r>
          </a:p>
          <a:p>
            <a:pPr>
              <a:buFontTx/>
              <a:buChar char="-"/>
            </a:pPr>
            <a:r>
              <a:rPr lang="en-US" dirty="0"/>
              <a:t>Classify healthy vs. patients from wearable data acquired during gait. </a:t>
            </a:r>
          </a:p>
          <a:p>
            <a:pPr>
              <a:buFontTx/>
              <a:buChar char="-"/>
            </a:pPr>
            <a:r>
              <a:rPr lang="en-US" dirty="0"/>
              <a:t>Predict risk of falls in elderly subjects based on wearable data. </a:t>
            </a:r>
          </a:p>
          <a:p>
            <a:pPr>
              <a:buFontTx/>
              <a:buChar char="-"/>
            </a:pPr>
            <a:r>
              <a:rPr lang="en-US" dirty="0"/>
              <a:t>Activity classification based on wearable data.</a:t>
            </a:r>
          </a:p>
          <a:p>
            <a:pPr>
              <a:buFontTx/>
              <a:buChar char="-"/>
            </a:pPr>
            <a:r>
              <a:rPr lang="en-US" dirty="0"/>
              <a:t>Compare joint angles of young vs. older adults during gait from videos.  </a:t>
            </a:r>
          </a:p>
        </p:txBody>
      </p:sp>
    </p:spTree>
    <p:extLst>
      <p:ext uri="{BB962C8B-B14F-4D97-AF65-F5344CB8AC3E}">
        <p14:creationId xmlns:p14="http://schemas.microsoft.com/office/powerpoint/2010/main" val="418216955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6B81DC5-12F6-B8BF-5899-A512695802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  <a:latin typeface="Calibri" panose="020F0502020204030204" pitchFamily="34" charset="0"/>
              </a:rPr>
              <a:t>APK 6725 - Grading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2CA73C-D649-6B83-2C4F-862ED671F8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US" sz="2800" dirty="0">
                <a:effectLst/>
              </a:rPr>
              <a:t>Project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Students must prepare a written report, including the methods and results obtained in the project. The report should include a brief description of the problem being analyzed, the data, and present a summary of the results, and final discussion. </a:t>
            </a:r>
          </a:p>
          <a:p>
            <a:pPr marL="0" indent="0">
              <a:buNone/>
            </a:pPr>
            <a:r>
              <a:rPr lang="en-US" dirty="0"/>
              <a:t>Format: </a:t>
            </a:r>
          </a:p>
          <a:p>
            <a:pPr>
              <a:buFontTx/>
              <a:buChar char="-"/>
            </a:pPr>
            <a:r>
              <a:rPr lang="en-US" dirty="0"/>
              <a:t>Font : Arial 11 pts</a:t>
            </a:r>
          </a:p>
          <a:p>
            <a:pPr>
              <a:buFontTx/>
              <a:buChar char="-"/>
            </a:pPr>
            <a:r>
              <a:rPr lang="en-US" dirty="0"/>
              <a:t>Max length : 10 pages</a:t>
            </a:r>
          </a:p>
          <a:p>
            <a:pPr>
              <a:buFontTx/>
              <a:buChar char="-"/>
            </a:pPr>
            <a:r>
              <a:rPr lang="en-US" dirty="0"/>
              <a:t>Reference style: APA</a:t>
            </a:r>
          </a:p>
        </p:txBody>
      </p:sp>
    </p:spTree>
    <p:extLst>
      <p:ext uri="{BB962C8B-B14F-4D97-AF65-F5344CB8AC3E}">
        <p14:creationId xmlns:p14="http://schemas.microsoft.com/office/powerpoint/2010/main" val="3091294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729929-AAF8-F792-12F7-60AD677BBF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  <a:latin typeface="Calibri" panose="020F0502020204030204" pitchFamily="34" charset="0"/>
              </a:rPr>
              <a:t>APK 6725 - Grading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330356C-F6FD-86B8-CBC2-EA296C57E7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>
                <a:effectLst/>
              </a:rPr>
              <a:t>Project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800" dirty="0">
                <a:effectLst/>
              </a:rPr>
              <a:t>I will use the following rubric to evaluate your project.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BCD9EEB-26EF-FDEC-8487-8A8CA13691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40025" y="3429000"/>
            <a:ext cx="6711950" cy="33618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959578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D18B92-2A0E-8066-F4DA-92EA806972A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  <a:latin typeface="Calibri" panose="020F0502020204030204" pitchFamily="34" charset="0"/>
              </a:rPr>
              <a:t>APK 6725 - Grading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DE2B34-B286-012A-3A94-A0FCD5ADE8A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>
                <a:effectLst/>
              </a:rPr>
              <a:t>Presentation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800" dirty="0">
                <a:effectLst/>
              </a:rPr>
              <a:t>Students must prepare a 10 minutes presentation describing the project and results. </a:t>
            </a:r>
            <a:r>
              <a:rPr lang="en-US" dirty="0"/>
              <a:t>The presentation must include:</a:t>
            </a:r>
          </a:p>
          <a:p>
            <a:pPr>
              <a:buFontTx/>
              <a:buChar char="-"/>
            </a:pPr>
            <a:r>
              <a:rPr lang="en-US" sz="2800" dirty="0">
                <a:effectLst/>
              </a:rPr>
              <a:t>Background</a:t>
            </a:r>
          </a:p>
          <a:p>
            <a:pPr>
              <a:buFontTx/>
              <a:buChar char="-"/>
            </a:pPr>
            <a:r>
              <a:rPr lang="en-US" sz="2800" dirty="0">
                <a:effectLst/>
              </a:rPr>
              <a:t>Methods</a:t>
            </a:r>
          </a:p>
          <a:p>
            <a:pPr>
              <a:buFontTx/>
              <a:buChar char="-"/>
            </a:pPr>
            <a:r>
              <a:rPr lang="en-US" dirty="0"/>
              <a:t>Results </a:t>
            </a:r>
          </a:p>
          <a:p>
            <a:pPr>
              <a:buFontTx/>
              <a:buChar char="-"/>
            </a:pPr>
            <a:r>
              <a:rPr lang="en-US" sz="2800" dirty="0">
                <a:effectLst/>
              </a:rPr>
              <a:t>Discussion </a:t>
            </a:r>
          </a:p>
          <a:p>
            <a:pPr marL="0" indent="0">
              <a:buNone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49611094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DBDD0F-6CCE-35EE-84D3-0B9D6CEFB7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  <a:latin typeface="Calibri" panose="020F0502020204030204" pitchFamily="34" charset="0"/>
              </a:rPr>
              <a:t>APK 6725 - Grading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6F5A5F-0726-F408-242B-3C4BB5696FF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2800" dirty="0">
                <a:effectLst/>
              </a:rPr>
              <a:t>Presentation 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sz="2800" dirty="0">
                <a:effectLst/>
              </a:rPr>
              <a:t>I will use the following rubric to evaluate your presentation:</a:t>
            </a:r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C1F44C5-3AC4-CC4F-789D-2627D3F706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2984" y="3452498"/>
            <a:ext cx="9926032" cy="28594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027120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8BE5A5-E86B-9B57-8D81-F3F311CEE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  <a:latin typeface="Calibri" panose="020F0502020204030204" pitchFamily="34" charset="0"/>
              </a:rPr>
              <a:t>APK 6725 - Grading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21002D-1B27-6F72-0FBA-5845449A11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Notes</a:t>
            </a:r>
          </a:p>
          <a:p>
            <a:pPr>
              <a:buFontTx/>
              <a:buChar char="-"/>
            </a:pPr>
            <a:r>
              <a:rPr lang="en-US" dirty="0"/>
              <a:t>The project + presentation represent 50% of your grade. You should spend 3 to 5 hours per week working on the project. </a:t>
            </a:r>
          </a:p>
          <a:p>
            <a:pPr>
              <a:buFontTx/>
              <a:buChar char="-"/>
            </a:pPr>
            <a:r>
              <a:rPr lang="en-US" dirty="0"/>
              <a:t>Start working on your project now. Don’t leave it for the last few weeks of class. </a:t>
            </a:r>
          </a:p>
          <a:p>
            <a:pPr>
              <a:buFontTx/>
              <a:buChar char="-"/>
            </a:pPr>
            <a:r>
              <a:rPr lang="en-US" dirty="0"/>
              <a:t>Groups must be created the first week of class and students should start working together immediately to identify any potential issues/incompatibilities. </a:t>
            </a:r>
          </a:p>
          <a:p>
            <a:pPr>
              <a:buFontTx/>
              <a:buChar char="-"/>
            </a:pPr>
            <a:r>
              <a:rPr lang="en-US" dirty="0"/>
              <a:t>Larger groups are expected to work in more complex projects. </a:t>
            </a:r>
          </a:p>
        </p:txBody>
      </p:sp>
    </p:spTree>
    <p:extLst>
      <p:ext uri="{BB962C8B-B14F-4D97-AF65-F5344CB8AC3E}">
        <p14:creationId xmlns:p14="http://schemas.microsoft.com/office/powerpoint/2010/main" val="191512761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C8207C-3D42-47B3-8858-9828E6CF08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  <a:latin typeface="Calibri" panose="020F0502020204030204" pitchFamily="34" charset="0"/>
              </a:rPr>
              <a:t>APK 4720 / APK 6725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D4D61AD-64DE-6B8C-0A32-54B3624C31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Use of generative AI.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Use of AI and large language models is encouraged in this class, most people are using these tools, and not learning to use them will put you at a disadvantage. </a:t>
            </a:r>
          </a:p>
          <a:p>
            <a:pPr marL="0" indent="0">
              <a:buNone/>
            </a:pPr>
            <a:r>
              <a:rPr lang="en-US" dirty="0"/>
              <a:t>Good uses of AI include:</a:t>
            </a:r>
          </a:p>
          <a:p>
            <a:pPr>
              <a:buFontTx/>
              <a:buChar char="-"/>
            </a:pPr>
            <a:r>
              <a:rPr lang="en-US" dirty="0"/>
              <a:t>Explain code functionality in plain English.</a:t>
            </a:r>
          </a:p>
          <a:p>
            <a:pPr>
              <a:buFontTx/>
              <a:buChar char="-"/>
            </a:pPr>
            <a:r>
              <a:rPr lang="en-US" dirty="0"/>
              <a:t>Identify and correct bugs in your code.</a:t>
            </a:r>
          </a:p>
          <a:p>
            <a:pPr>
              <a:buFontTx/>
              <a:buChar char="-"/>
            </a:pPr>
            <a:r>
              <a:rPr lang="en-US" dirty="0"/>
              <a:t>Generate documentation</a:t>
            </a:r>
          </a:p>
          <a:p>
            <a:pPr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0570935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B838BD-240E-41D6-6E2E-F449CFCDAA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053004-B635-0C9D-216A-09FE54BD0C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effectLst/>
                <a:latin typeface="Calibri" panose="020F0502020204030204" pitchFamily="34" charset="0"/>
              </a:rPr>
              <a:t>APK 6725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AEA240-E4BC-29CA-60AE-F1224648993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US" dirty="0"/>
              <a:t>Use of generative AI.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r>
              <a:rPr lang="en-US" dirty="0"/>
              <a:t>Bad uses of AI include:</a:t>
            </a:r>
          </a:p>
          <a:p>
            <a:pPr>
              <a:buFontTx/>
              <a:buChar char="-"/>
            </a:pPr>
            <a:r>
              <a:rPr lang="en-US" dirty="0"/>
              <a:t>Ask it to do your assignment. </a:t>
            </a:r>
          </a:p>
          <a:p>
            <a:pPr>
              <a:buFontTx/>
              <a:buChar char="-"/>
            </a:pPr>
            <a:r>
              <a:rPr lang="en-US" dirty="0"/>
              <a:t>Give it some data and ask the algorithm to analyze it.</a:t>
            </a:r>
          </a:p>
          <a:p>
            <a:pPr>
              <a:buFontTx/>
              <a:buChar char="-"/>
            </a:pPr>
            <a:r>
              <a:rPr lang="en-US" dirty="0"/>
              <a:t>Use it to write your report or make your presentation.</a:t>
            </a:r>
          </a:p>
          <a:p>
            <a:pPr>
              <a:buFontTx/>
              <a:buChar char="-"/>
            </a:pPr>
            <a:endParaRPr lang="en-US" dirty="0"/>
          </a:p>
          <a:p>
            <a:pPr marL="0" indent="0">
              <a:buNone/>
            </a:pPr>
            <a:r>
              <a:rPr lang="en-US" dirty="0"/>
              <a:t>AI can solve </a:t>
            </a:r>
            <a:r>
              <a:rPr lang="en-US"/>
              <a:t>your assignments, </a:t>
            </a:r>
            <a:r>
              <a:rPr lang="en-US" dirty="0"/>
              <a:t>but YOU won’t learn anything.  </a:t>
            </a:r>
          </a:p>
          <a:p>
            <a:pPr>
              <a:buFontTx/>
              <a:buChar char="-"/>
            </a:pP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572470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2FE95DD0-BA23-324F-BF3C-02B50193183A}">
  <we:reference id="4b785c87-866c-4bad-85d8-5d1ae467ac9a" version="3.18.0.0" store="EXCatalog" storeType="EXCatalog"/>
  <we:alternateReferences>
    <we:reference id="WA104381909" version="3.18.0.0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4010</TotalTime>
  <Words>1010</Words>
  <Application>Microsoft Macintosh PowerPoint</Application>
  <PresentationFormat>Widescreen</PresentationFormat>
  <Paragraphs>153</Paragraphs>
  <Slides>21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7" baseType="lpstr">
      <vt:lpstr>Aptos</vt:lpstr>
      <vt:lpstr>Aptos Display</vt:lpstr>
      <vt:lpstr>Arial</vt:lpstr>
      <vt:lpstr>Calibri</vt:lpstr>
      <vt:lpstr>Wingdings</vt:lpstr>
      <vt:lpstr>Office Theme</vt:lpstr>
      <vt:lpstr> APK 6725 AI for Sports and  Movement Sciences</vt:lpstr>
      <vt:lpstr>APK 6725 – Instructor </vt:lpstr>
      <vt:lpstr>APK 6725 – Instructor  </vt:lpstr>
      <vt:lpstr>APK 6725 – Instructor  </vt:lpstr>
      <vt:lpstr>APK 6725 – Why?</vt:lpstr>
      <vt:lpstr>APK 6725 – Why?</vt:lpstr>
      <vt:lpstr>APK 6725 – Why?</vt:lpstr>
      <vt:lpstr>APK 6725 – Learning Objectives</vt:lpstr>
      <vt:lpstr>APK 6725 – Books</vt:lpstr>
      <vt:lpstr>APK 6725 - Grading</vt:lpstr>
      <vt:lpstr>APK 6725 - Grading</vt:lpstr>
      <vt:lpstr>APK 6725 - Grading</vt:lpstr>
      <vt:lpstr>APK 6725 - Grading</vt:lpstr>
      <vt:lpstr>APK 6725 - Grading</vt:lpstr>
      <vt:lpstr>APK 6725 - Grading</vt:lpstr>
      <vt:lpstr>APK 6725 - Grading</vt:lpstr>
      <vt:lpstr>APK 6725 - Grading</vt:lpstr>
      <vt:lpstr>APK 6725 - Grading</vt:lpstr>
      <vt:lpstr>APK 6725 - Grading</vt:lpstr>
      <vt:lpstr>APK 4720 / APK 6725</vt:lpstr>
      <vt:lpstr>APK 6725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Guarin, Diego L.</dc:creator>
  <cp:lastModifiedBy>Guarin, Diego L.</cp:lastModifiedBy>
  <cp:revision>4</cp:revision>
  <dcterms:created xsi:type="dcterms:W3CDTF">2025-12-17T17:42:50Z</dcterms:created>
  <dcterms:modified xsi:type="dcterms:W3CDTF">2026-08-21T19:42:48Z</dcterms:modified>
</cp:coreProperties>
</file>